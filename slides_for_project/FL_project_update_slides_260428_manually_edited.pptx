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D073C2-5231-4C75-9E6B-18C90AF0B1CF}">
  <a:tblStyle styleId="{B0D073C2-5231-4C75-9E6B-18C90AF0B1C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oi.org/10.1093/biostatistics/kxx028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5029200"/>
            <a:ext cx="12188952" cy="73152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1371600"/>
            <a:ext cx="10698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Cross-Platform Transcriptomic Harmonization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B-Cell Lymphomas</a:t>
            </a:r>
            <a:endParaRPr sz="2200"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3017520"/>
            <a:ext cx="1069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Benchmark Progress Report</a:t>
            </a:r>
            <a:endParaRPr sz="2200"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3566160"/>
            <a:ext cx="9418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25 batch-correction methods  ×  10 sample-removal strategies</a:t>
            </a:r>
            <a:br>
              <a:rPr b="0" i="0" lang="en-US" sz="22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×  4 imputation approaches  ×  2 post-removal options</a:t>
            </a:r>
            <a:br>
              <a:rPr b="0" i="0" lang="en-US" sz="22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= 2,000 output matrices evaluated</a:t>
            </a:r>
            <a:endParaRPr sz="2200"/>
          </a:p>
        </p:txBody>
      </p:sp>
      <p:sp>
        <p:nvSpPr>
          <p:cNvPr id="89" name="Google Shape;89;p13"/>
          <p:cNvSpPr txBox="1"/>
          <p:nvPr/>
        </p:nvSpPr>
        <p:spPr>
          <a:xfrm>
            <a:off x="731520" y="5303520"/>
            <a:ext cx="1069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9BBDD"/>
                </a:solidFill>
                <a:latin typeface="Calibri"/>
                <a:ea typeface="Calibri"/>
                <a:cs typeface="Calibri"/>
                <a:sym typeface="Calibri"/>
              </a:rPr>
              <a:t>Daniil Nikitin  ·  BostonGene  ·  2026-04-28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objective and why harmonization matters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65760" y="1097280"/>
            <a:ext cx="11430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• Central question: can SOM gene-expression patterns resolve FL subtypes, align them to normal GC B-cell states (LZ ↔ DZ), and predict clinical outcomes across mixed platforms?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Data span: Affymetrix microarray · Illumina NGS · Illumina microarray · Agilent microarray — four fundamentally incompatible measurement technologies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Problem magnitude: ~95% of PCA variance is explained by RNA_BATCH (platform) in raw data — biology is entirely hidden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Goal: reduce batch R² below 20% while preserving biological signal (diagnosis, cell type)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Metric: one-way ANOVA R² of RNA_BATCH on first 10 PCA components (lower = better)</a:t>
            </a:r>
            <a:endParaRPr sz="2200"/>
          </a:p>
        </p:txBody>
      </p:sp>
      <p:sp>
        <p:nvSpPr>
          <p:cNvPr id="98" name="Google Shape;98;p14"/>
          <p:cNvSpPr/>
          <p:nvPr/>
        </p:nvSpPr>
        <p:spPr>
          <a:xfrm>
            <a:off x="365760" y="5120640"/>
            <a:ext cx="11430000" cy="685800"/>
          </a:xfrm>
          <a:prstGeom prst="rect">
            <a:avLst/>
          </a:prstGeom>
          <a:solidFill>
            <a:srgbClr val="FFF0D0"/>
          </a:solidFill>
          <a:ln cap="flat" cmpd="sng" w="9525">
            <a:solidFill>
              <a:srgbClr val="D3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02920" y="5166360"/>
            <a:ext cx="1115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Before normalization: ~95% of PCA variance explained by platform.  Target: R² &lt; 0.20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228600" y="45720"/>
            <a:ext cx="10972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Multi-platform cohort: 7,174 samples · 88 cohorts</a:t>
            </a:r>
            <a:endParaRPr sz="2100"/>
          </a:p>
        </p:txBody>
      </p:sp>
      <p:sp>
        <p:nvSpPr>
          <p:cNvPr id="107" name="Google Shape;107;p15"/>
          <p:cNvSpPr txBox="1"/>
          <p:nvPr/>
        </p:nvSpPr>
        <p:spPr>
          <a:xfrm>
            <a:off x="379422" y="1080205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Dataset composition</a:t>
            </a:r>
            <a:endParaRPr sz="2500"/>
          </a:p>
        </p:txBody>
      </p:sp>
      <p:graphicFrame>
        <p:nvGraphicFramePr>
          <p:cNvPr id="108" name="Google Shape;108;p15"/>
          <p:cNvGraphicFramePr/>
          <p:nvPr/>
        </p:nvGraphicFramePr>
        <p:xfrm>
          <a:off x="379485" y="18590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3592275"/>
                <a:gridCol w="1436925"/>
              </a:tblGrid>
              <a:tr h="4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Value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4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Total samples (initial)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7,174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After bad-batch / rare-group exclusion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5,444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Genes (full coverage, no NA)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3,520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Cohorts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88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Platforms types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4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15"/>
          <p:cNvSpPr txBox="1"/>
          <p:nvPr/>
        </p:nvSpPr>
        <p:spPr>
          <a:xfrm>
            <a:off x="5682943" y="1080205"/>
            <a:ext cx="61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Major RNA batches</a:t>
            </a:r>
            <a:endParaRPr sz="2500"/>
          </a:p>
        </p:txBody>
      </p:sp>
      <p:graphicFrame>
        <p:nvGraphicFramePr>
          <p:cNvPr id="110" name="Google Shape;110;p15"/>
          <p:cNvGraphicFramePr/>
          <p:nvPr/>
        </p:nvGraphicFramePr>
        <p:xfrm>
          <a:off x="5683005" y="18590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3200475"/>
                <a:gridCol w="731550"/>
                <a:gridCol w="2194600"/>
              </a:tblGrid>
              <a:tr h="3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RNA_BATCH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N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RNASeq_FF_PolyA  ★ reference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1,039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Illumina NGS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GPL570_Unknown_Unknown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1,030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Affymetrix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GPL570_FF_Unknown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994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Affymetrix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RNASeq_FFPE_Exome_capture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939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Illumina NGS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GPL14951_FFPE_Unknown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810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Illumina microarray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GPL570_FFPE_Unknown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800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</a:rPr>
                        <a:t>Affymetrix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111" name="Google Shape;111;p15"/>
          <p:cNvSpPr txBox="1"/>
          <p:nvPr/>
        </p:nvSpPr>
        <p:spPr>
          <a:xfrm>
            <a:off x="379485" y="4576663"/>
            <a:ext cx="114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Diagnosis groups</a:t>
            </a:r>
            <a:endParaRPr sz="1700"/>
          </a:p>
        </p:txBody>
      </p:sp>
      <p:sp>
        <p:nvSpPr>
          <p:cNvPr id="112" name="Google Shape;112;p15"/>
          <p:cNvSpPr/>
          <p:nvPr/>
        </p:nvSpPr>
        <p:spPr>
          <a:xfrm>
            <a:off x="0" y="5089725"/>
            <a:ext cx="2869200" cy="1286100"/>
          </a:xfrm>
          <a:prstGeom prst="rect">
            <a:avLst/>
          </a:prstGeom>
          <a:solidFill>
            <a:srgbClr val="F0F6FF"/>
          </a:solidFill>
          <a:ln cap="flat" cmpd="sng" w="103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43279" rotWithShape="0" dir="5400000" dist="24885">
              <a:srgbClr val="000000">
                <a:alpha val="34901"/>
              </a:srgbClr>
            </a:outerShdw>
          </a:effectLst>
        </p:spPr>
        <p:txBody>
          <a:bodyPr anchorCtr="0" anchor="ctr" bIns="49450" lIns="98925" spcFirstLastPara="1" rIns="98925" wrap="square" tIns="4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8936" y="5139193"/>
            <a:ext cx="26715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8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DLBCL</a:t>
            </a:r>
            <a:endParaRPr sz="2056"/>
          </a:p>
        </p:txBody>
      </p:sp>
      <p:sp>
        <p:nvSpPr>
          <p:cNvPr id="114" name="Google Shape;114;p15"/>
          <p:cNvSpPr txBox="1"/>
          <p:nvPr/>
        </p:nvSpPr>
        <p:spPr>
          <a:xfrm>
            <a:off x="98936" y="5633870"/>
            <a:ext cx="26715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89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~3,000</a:t>
            </a:r>
            <a:endParaRPr sz="2056"/>
          </a:p>
        </p:txBody>
      </p:sp>
      <p:sp>
        <p:nvSpPr>
          <p:cNvPr id="115" name="Google Shape;115;p15"/>
          <p:cNvSpPr/>
          <p:nvPr/>
        </p:nvSpPr>
        <p:spPr>
          <a:xfrm>
            <a:off x="3067003" y="5089725"/>
            <a:ext cx="2869200" cy="1286100"/>
          </a:xfrm>
          <a:prstGeom prst="rect">
            <a:avLst/>
          </a:prstGeom>
          <a:solidFill>
            <a:srgbClr val="F0F6FF"/>
          </a:solidFill>
          <a:ln cap="flat" cmpd="sng" w="103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3279" rotWithShape="0" dir="5400000" dist="24885">
              <a:srgbClr val="000000">
                <a:alpha val="34901"/>
              </a:srgbClr>
            </a:outerShdw>
          </a:effectLst>
        </p:spPr>
        <p:txBody>
          <a:bodyPr anchorCtr="0" anchor="ctr" bIns="49450" lIns="98925" spcFirstLastPara="1" rIns="98925" wrap="square" tIns="4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3165939" y="5139193"/>
            <a:ext cx="26715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8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endParaRPr sz="2056"/>
          </a:p>
        </p:txBody>
      </p:sp>
      <p:sp>
        <p:nvSpPr>
          <p:cNvPr id="117" name="Google Shape;117;p15"/>
          <p:cNvSpPr txBox="1"/>
          <p:nvPr/>
        </p:nvSpPr>
        <p:spPr>
          <a:xfrm>
            <a:off x="3165939" y="5633870"/>
            <a:ext cx="26715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89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~2,000</a:t>
            </a:r>
            <a:endParaRPr sz="2056"/>
          </a:p>
        </p:txBody>
      </p:sp>
      <p:sp>
        <p:nvSpPr>
          <p:cNvPr id="118" name="Google Shape;118;p15"/>
          <p:cNvSpPr/>
          <p:nvPr/>
        </p:nvSpPr>
        <p:spPr>
          <a:xfrm>
            <a:off x="6134006" y="5089725"/>
            <a:ext cx="2869200" cy="1286100"/>
          </a:xfrm>
          <a:prstGeom prst="rect">
            <a:avLst/>
          </a:prstGeom>
          <a:solidFill>
            <a:srgbClr val="F0F6FF"/>
          </a:solidFill>
          <a:ln cap="flat" cmpd="sng" w="10300">
            <a:solidFill>
              <a:srgbClr val="1E7A46"/>
            </a:solidFill>
            <a:prstDash val="solid"/>
            <a:round/>
            <a:headEnd len="sm" w="sm" type="none"/>
            <a:tailEnd len="sm" w="sm" type="none"/>
          </a:ln>
          <a:effectLst>
            <a:outerShdw blurRad="43279" rotWithShape="0" dir="5400000" dist="24885">
              <a:srgbClr val="000000">
                <a:alpha val="34901"/>
              </a:srgbClr>
            </a:outerShdw>
          </a:effectLst>
        </p:spPr>
        <p:txBody>
          <a:bodyPr anchorCtr="0" anchor="ctr" bIns="49450" lIns="98925" spcFirstLastPara="1" rIns="98925" wrap="square" tIns="4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232941" y="5042868"/>
            <a:ext cx="26715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8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Normal B cells</a:t>
            </a:r>
            <a:br>
              <a:rPr b="1" i="0" lang="en-US" sz="1948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948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(Normal_B_cells + Kassandra)</a:t>
            </a:r>
            <a:endParaRPr sz="2056"/>
          </a:p>
        </p:txBody>
      </p:sp>
      <p:sp>
        <p:nvSpPr>
          <p:cNvPr id="120" name="Google Shape;120;p15"/>
          <p:cNvSpPr txBox="1"/>
          <p:nvPr/>
        </p:nvSpPr>
        <p:spPr>
          <a:xfrm>
            <a:off x="6232941" y="5633870"/>
            <a:ext cx="26715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89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~1,000</a:t>
            </a:r>
            <a:endParaRPr sz="2056"/>
          </a:p>
        </p:txBody>
      </p:sp>
      <p:sp>
        <p:nvSpPr>
          <p:cNvPr id="121" name="Google Shape;121;p15"/>
          <p:cNvSpPr/>
          <p:nvPr/>
        </p:nvSpPr>
        <p:spPr>
          <a:xfrm>
            <a:off x="9201009" y="5089725"/>
            <a:ext cx="2869200" cy="1286100"/>
          </a:xfrm>
          <a:prstGeom prst="rect">
            <a:avLst/>
          </a:prstGeom>
          <a:solidFill>
            <a:srgbClr val="F0F6FF"/>
          </a:solidFill>
          <a:ln cap="flat" cmpd="sng" w="1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  <a:effectLst>
            <a:outerShdw blurRad="43279" rotWithShape="0" dir="5400000" dist="24885">
              <a:srgbClr val="000000">
                <a:alpha val="34901"/>
              </a:srgbClr>
            </a:outerShdw>
          </a:effectLst>
        </p:spPr>
        <p:txBody>
          <a:bodyPr anchorCtr="0" anchor="ctr" bIns="49450" lIns="98925" spcFirstLastPara="1" rIns="98925" wrap="square" tIns="4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9299944" y="5139193"/>
            <a:ext cx="2671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8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Rare subtypes</a:t>
            </a:r>
            <a:br>
              <a:rPr b="1" i="0" lang="en-US" sz="1948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948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(MCL, DHL, MZL, CLL, Other)</a:t>
            </a:r>
            <a:endParaRPr sz="2056"/>
          </a:p>
        </p:txBody>
      </p:sp>
      <p:sp>
        <p:nvSpPr>
          <p:cNvPr id="123" name="Google Shape;123;p15"/>
          <p:cNvSpPr txBox="1"/>
          <p:nvPr/>
        </p:nvSpPr>
        <p:spPr>
          <a:xfrm>
            <a:off x="9299944" y="5633870"/>
            <a:ext cx="26715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89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excluded</a:t>
            </a:r>
            <a:endParaRPr sz="2056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design: exhaustive cross-product of all methodological choices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228600" y="1097275"/>
            <a:ext cx="11841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 partial factorial design cannot identify the best combination — methods interact in non-obvious ways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Full cross-product is the only way to: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–</a:t>
            </a:r>
            <a:r>
              <a:rPr b="1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Compare methods</a:t>
            </a:r>
            <a:r>
              <a:rPr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under identical data conditions (same samples, same genes)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– Identify which method is most robust across imputation choices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– Quantify the </a:t>
            </a:r>
            <a:r>
              <a:rPr b="1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marginal effect of each dimension </a:t>
            </a:r>
            <a:r>
              <a:rPr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independently</a:t>
            </a:r>
            <a:endParaRPr sz="2000"/>
          </a:p>
        </p:txBody>
      </p:sp>
      <p:graphicFrame>
        <p:nvGraphicFramePr>
          <p:cNvPr id="132" name="Google Shape;132;p16"/>
          <p:cNvGraphicFramePr/>
          <p:nvPr/>
        </p:nvGraphicFramePr>
        <p:xfrm>
          <a:off x="130310" y="30030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3315650"/>
                <a:gridCol w="919975"/>
                <a:gridCol w="7606000"/>
              </a:tblGrid>
              <a:tr h="56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Options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44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Sample-removal strategy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10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Which batches / cohorts to exclude before normalization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4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Imputation approach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4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How to handle missing genes across platforms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4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Normalization method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25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Batch-correction algorithm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4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Post-normalization outlier removal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2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With / without removing residual outlier batches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16"/>
          <p:cNvSpPr/>
          <p:nvPr/>
        </p:nvSpPr>
        <p:spPr>
          <a:xfrm>
            <a:off x="379485" y="5738445"/>
            <a:ext cx="11430000" cy="640200"/>
          </a:xfrm>
          <a:prstGeom prst="rect">
            <a:avLst/>
          </a:prstGeom>
          <a:solidFill>
            <a:srgbClr val="E8F4E8"/>
          </a:solidFill>
          <a:ln cap="flat" cmpd="sng" w="9525">
            <a:solidFill>
              <a:srgbClr val="1E7A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62365" y="5784165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10 × 4 × 25 = 1,000 normalization runs  →  2,000 output matrices on S3  (each job stored as post0 + post1 variant)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228600" y="45720"/>
            <a:ext cx="10972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 1 — Sample-removal strategies</a:t>
            </a:r>
            <a:endParaRPr sz="1900"/>
          </a:p>
        </p:txBody>
      </p:sp>
      <p:graphicFrame>
        <p:nvGraphicFramePr>
          <p:cNvPr id="142" name="Google Shape;142;p17"/>
          <p:cNvGraphicFramePr/>
          <p:nvPr/>
        </p:nvGraphicFramePr>
        <p:xfrm>
          <a:off x="274320" y="11129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2011675"/>
                <a:gridCol w="4389125"/>
                <a:gridCol w="1097275"/>
                <a:gridCol w="4114800"/>
              </a:tblGrid>
              <a:tr h="4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Key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Samples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4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S0_no_removal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All samples (rare-group exclusion only)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~6,000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Baseline; maximum data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A_confirmed_bad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Exclude 3 confirmed FFPE microarray batches + SOM cohort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5,444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Removes known bad-quality batches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B_extended_bad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Exclude 11 batches + SOM cohort (superset of A)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~4,700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More aggressive known-bad removal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C_rnaseq_only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RNA-seq batches only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2,386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Removes cross-platform challenge entirely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5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D_malignant_only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Tumor samples only (no normal B cells)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4,444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Tests normalization without normal/tumor mixing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E1_iterative_r1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A + 1 data-driven PCA-outlier batch removed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5,350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Iterative PCA-based outlier detection round 1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E2_iterative_r2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E1 + 1 more PCA-outlier batch removed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~5,300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Round 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E3_iterative_r3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E2 + 1 more PCA-outlier batch removed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5,256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Round 3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F_microarray_only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Microarray batches only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4,825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Intra-platform normalization test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G_affymetrix_only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GPL570 batches only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2,824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Single-technology normalization test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17"/>
          <p:cNvSpPr txBox="1"/>
          <p:nvPr/>
        </p:nvSpPr>
        <p:spPr>
          <a:xfrm>
            <a:off x="274320" y="6537960"/>
            <a:ext cx="1161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Note: E1–E3 use identify_outlier_batches() iteratively on PCA-corrected data — most expensive preparation step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228600" y="45720"/>
            <a:ext cx="10972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 2 — Handling missing genes (imputation)</a:t>
            </a:r>
            <a:endParaRPr sz="1900"/>
          </a:p>
        </p:txBody>
      </p:sp>
      <p:sp>
        <p:nvSpPr>
          <p:cNvPr id="151" name="Google Shape;151;p18"/>
          <p:cNvSpPr txBox="1"/>
          <p:nvPr/>
        </p:nvSpPr>
        <p:spPr>
          <a:xfrm>
            <a:off x="365760" y="1051560"/>
            <a:ext cx="114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~13,000 genes pass the 5,000-sample presence threshold; only 3,520 have full coverage (no NA across all platforms).</a:t>
            </a:r>
            <a:endParaRPr sz="1800"/>
          </a:p>
        </p:txBody>
      </p:sp>
      <p:graphicFrame>
        <p:nvGraphicFramePr>
          <p:cNvPr id="152" name="Google Shape;152;p18"/>
          <p:cNvGraphicFramePr/>
          <p:nvPr/>
        </p:nvGraphicFramePr>
        <p:xfrm>
          <a:off x="10337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1208725"/>
                <a:gridCol w="3068300"/>
                <a:gridCol w="1208725"/>
                <a:gridCol w="2231475"/>
                <a:gridCol w="4091025"/>
              </a:tblGrid>
              <a:tr h="52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Key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Genes (S0)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Missing-data assumption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Key limitation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strict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Drop all genes with any NA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3,520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Complete case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Smallest gene space; zero NaN guarantee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75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knn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sklearn KNNImputer k=5 (Troyanskaya 2001)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~12,000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MAR (missing at random) within neighborhood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Residual NaN for BEAM genes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52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missforest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R missForest (Stekhoven 2012) — Random Forest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FAILED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MAR across all samples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Ran &gt;24h on 16 CPUs / 240 GB RAM; pod killed, no restart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2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softimpute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R softImpute (Hastie 2015) — matrix completion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~11,000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Low-rank MAR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Residual NaN when no low-rank signal; same BEAM limitation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18"/>
          <p:cNvSpPr txBox="1"/>
          <p:nvPr/>
        </p:nvSpPr>
        <p:spPr>
          <a:xfrm>
            <a:off x="228600" y="4720925"/>
            <a:ext cx="1173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375" lIns="92800" spcFirstLastPara="1" rIns="92800" wrap="square" tIns="46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Key decision: dropna(axis=1) for residual NaN (BEAM genes)</a:t>
            </a:r>
            <a:endParaRPr sz="1521"/>
          </a:p>
        </p:txBody>
      </p:sp>
      <p:sp>
        <p:nvSpPr>
          <p:cNvPr id="154" name="Google Shape;154;p18"/>
          <p:cNvSpPr txBox="1"/>
          <p:nvPr/>
        </p:nvSpPr>
        <p:spPr>
          <a:xfrm>
            <a:off x="228600" y="5045755"/>
            <a:ext cx="11738400" cy="18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375" lIns="92800" spcFirstLastPara="1" rIns="92800" wrap="square" tIns="46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2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After KNN/softImpute, remaining NaN are BEAMs (Batch-Effect Associated Missing values, Goh 2023) — absent from entire batches → MNAR</a:t>
            </a:r>
            <a:endParaRPr sz="1724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2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Global median imputation of BEAMs: creates artificial homogenization · inflates intra-sample variance (Hui 2023: +21.3% RMSE) · biases ComBat/SVA EB priors</a:t>
            </a:r>
            <a:endParaRPr sz="1724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2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Decision: dropna(axis=1) for all 24 methods  |  Exception: HarmonizR handles BEAMs internally by design</a:t>
            </a:r>
            <a:endParaRPr sz="1724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2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Rubin 1976 (MNAR theory)  ·  Goh 2025 (Briefings in Bioinformatics): 'none of the MVI (missing values imputation) methods evaluated are suitable for handling BEAMs effectively'</a:t>
            </a:r>
            <a:endParaRPr sz="1724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7A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228600" y="45720"/>
            <a:ext cx="10972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 3 — Batch-correction methods evaluated (1/2: methods 01–13)</a:t>
            </a:r>
            <a:endParaRPr sz="1700"/>
          </a:p>
        </p:txBody>
      </p:sp>
      <p:graphicFrame>
        <p:nvGraphicFramePr>
          <p:cNvPr id="162" name="Google Shape;162;p19"/>
          <p:cNvGraphicFramePr/>
          <p:nvPr/>
        </p:nvGraphicFramePr>
        <p:xfrm>
          <a:off x="274370" y="1005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526375"/>
                <a:gridCol w="1522950"/>
                <a:gridCol w="3647700"/>
                <a:gridCol w="734175"/>
                <a:gridCol w="710950"/>
                <a:gridCol w="4470700"/>
              </a:tblGrid>
              <a:tr h="30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#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Key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Algorithm family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Lang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Tier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Reference / Notes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30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01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01_raw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Passthrough (baseline)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Absolute baseline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26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02_median_scaling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Per-batch median shift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Simple interpretable baseline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0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03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03_limma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Linear model (additive)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limma removeBatchEffect; classic microarray method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04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04_sva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Surrogate variable analysis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Leek &amp; Storey 2012; falls back if 0 SVs detected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526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05_combat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Empirical Bayes (ComBat)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Johnson 2007; additive + multiplicative; biology covariate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06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06_combat_seq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ComBat-seq (NB counts)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Zhang 2020; count data; rounds to integers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0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07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07_pycombat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ComBat Python port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combat package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26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08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08_inmoose_combatseq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ComBat-seq Python port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inmoose.pycombat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0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09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09_ruv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Factor analysis (RUVg)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Risso 2014; 10 housekeeping negative-control genes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26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10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10_mnn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Mutual nearest neighbours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Haghverdi 2018 fastMNN; embedding inverse-projected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526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11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11_harmony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PCA-space clustering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Korsunsky 2019 Harmony; inverse-projected to gene space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12_scanorama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Panoramic alignment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Hie 2019 Scanorama; gene intersection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0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13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13_fsmvn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Feature mean-variance norm.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Negative control for distributional methods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19"/>
          <p:cNvSpPr txBox="1"/>
          <p:nvPr/>
        </p:nvSpPr>
        <p:spPr>
          <a:xfrm>
            <a:off x="274307" y="6618535"/>
            <a:ext cx="116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Tier: L = Low (minimal correction)   M = Medium (parametric / subspace)   H = High (distributional)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7B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228600" y="45720"/>
            <a:ext cx="10972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 3 — Batch-correction methods evaluated (2/2: methods 14–25)</a:t>
            </a:r>
            <a:endParaRPr sz="1600"/>
          </a:p>
        </p:txBody>
      </p:sp>
      <p:graphicFrame>
        <p:nvGraphicFramePr>
          <p:cNvPr id="171" name="Google Shape;171;p20"/>
          <p:cNvGraphicFramePr/>
          <p:nvPr/>
        </p:nvGraphicFramePr>
        <p:xfrm>
          <a:off x="274320" y="1097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743000"/>
                <a:gridCol w="1644425"/>
                <a:gridCol w="2692550"/>
                <a:gridCol w="653200"/>
                <a:gridCol w="561750"/>
                <a:gridCol w="5380825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#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Key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Algorithm family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Lang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Tier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Reference / Notes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27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14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14_qsmooth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Smooth quantile norm.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Hicks 2018 qsmooth; group-aware quantile normalization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15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15_fsqn_py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FSQN Python re-impl.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Py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Per-gene quantile matching to reference batch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27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16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16_fsqn_r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FSQN R package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★ Best known result — Franks 2018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17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17_quantile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Standard quantile norm.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Py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Bolstad 2003; forces one global distribution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27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18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18_rank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Fractional rank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Py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Platform-independent; monotone transform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19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19_tdm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Training distribution match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Thompson 2016 TDM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20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20_shambhala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CuBlock + quantile norm.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Borisov 2022 Shambhala2 — currently failing (package not installed)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21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21_harmonizr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BEAM-aware ComBat/limma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M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Voss 2022 HarmonizR; dissection-based; handles NA natively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22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22_tmm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TMM (edgeR)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L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Robinson 2010; RNA-seq only — skipped on mixed strategies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23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23_vst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DESeq2 VST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L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Love 2014; RNA-seq only — skipped on mixed strategies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27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24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24_peer_k10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PEER hidden factors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M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Unavailable for R 4.5 — always skipped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25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25_angel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Rank + platform-variance filter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Py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Reduced gene space — R² not directly comparable with others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/>
        </p:nvSpPr>
        <p:spPr>
          <a:xfrm>
            <a:off x="288032" y="6414640"/>
            <a:ext cx="116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Tier: L = Low   M = Medium   H = High (distributional — most aggressive)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228600" y="45720"/>
            <a:ext cx="10972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Partial results — strategy A_confirmed_bad × strict imputation</a:t>
            </a:r>
            <a:endParaRPr sz="1700"/>
          </a:p>
        </p:txBody>
      </p:sp>
      <p:sp>
        <p:nvSpPr>
          <p:cNvPr id="180" name="Google Shape;180;p21"/>
          <p:cNvSpPr txBox="1"/>
          <p:nvPr/>
        </p:nvSpPr>
        <p:spPr>
          <a:xfrm>
            <a:off x="274320" y="1097280"/>
            <a:ext cx="658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Pre-benchmark exploration (harmonization_benchmark.ipynb):</a:t>
            </a:r>
            <a:endParaRPr sz="1700"/>
          </a:p>
        </p:txBody>
      </p:sp>
      <p:graphicFrame>
        <p:nvGraphicFramePr>
          <p:cNvPr id="181" name="Google Shape;181;p21"/>
          <p:cNvGraphicFramePr/>
          <p:nvPr/>
        </p:nvGraphicFramePr>
        <p:xfrm>
          <a:off x="27432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1810225"/>
                <a:gridCol w="1183400"/>
                <a:gridCol w="800575"/>
                <a:gridCol w="2994100"/>
              </a:tblGrid>
              <a:tr h="4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R² batch (post0)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R² diag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Notes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4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01_raw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~0.95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Baseline; platform dominates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03_limma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~0.45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Partial; additive correction only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05_combat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~0.35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EB + biology covariate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07_pycombat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~0.35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Comparable to ComBat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11_harmony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&gt;0.95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REJECTED — worsened batch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14_qsmooth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~0.48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Fails 12/88 cohorts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15_fsqn_py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~0.20–0.25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Good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16_fsqn_r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~0.16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~0.09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★ CURRENT BEST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17_quantile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~0.20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5 outlier batches remain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21_harmonizr*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~0.10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~0.14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*E3×softimpute — metrics.csv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21"/>
          <p:cNvSpPr txBox="1"/>
          <p:nvPr/>
        </p:nvSpPr>
        <p:spPr>
          <a:xfrm>
            <a:off x="7315200" y="109728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How to read the columns:</a:t>
            </a:r>
            <a:endParaRPr sz="1800"/>
          </a:p>
        </p:txBody>
      </p:sp>
      <p:sp>
        <p:nvSpPr>
          <p:cNvPr id="183" name="Google Shape;183;p21"/>
          <p:cNvSpPr txBox="1"/>
          <p:nvPr/>
        </p:nvSpPr>
        <p:spPr>
          <a:xfrm>
            <a:off x="7315200" y="1463040"/>
            <a:ext cx="4663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R² batch (post0): fraction of PCA variance (first 10 PCs) explained by RNA_BATCH — without post-normalization outlier removal.  Lower = better. Target &lt; 0.20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R² diag (post0): same formula for Diagnosis_cell_type_unified. Measures biology preserved. Higher = better</a:t>
            </a:r>
            <a:endParaRPr sz="2000"/>
          </a:p>
        </p:txBody>
      </p:sp>
      <p:sp>
        <p:nvSpPr>
          <p:cNvPr id="184" name="Google Shape;184;p21"/>
          <p:cNvSpPr txBox="1"/>
          <p:nvPr/>
        </p:nvSpPr>
        <p:spPr>
          <a:xfrm>
            <a:off x="7315175" y="3473407"/>
            <a:ext cx="466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Verified example from metrics.csv</a:t>
            </a:r>
            <a:br>
              <a:rPr b="1" i="0" lang="en-US" sz="17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(E3 × softimpute × HarmonizR):</a:t>
            </a:r>
            <a:endParaRPr sz="1900"/>
          </a:p>
        </p:txBody>
      </p:sp>
      <p:graphicFrame>
        <p:nvGraphicFramePr>
          <p:cNvPr id="185" name="Google Shape;185;p21"/>
          <p:cNvGraphicFramePr/>
          <p:nvPr/>
        </p:nvGraphicFramePr>
        <p:xfrm>
          <a:off x="7223773" y="42101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1070925"/>
                <a:gridCol w="556875"/>
                <a:gridCol w="771050"/>
                <a:gridCol w="471200"/>
                <a:gridCol w="471200"/>
                <a:gridCol w="428375"/>
                <a:gridCol w="514050"/>
                <a:gridCol w="4712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strat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imp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post_rm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r2_batch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r2_diag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n_samples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n_genes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</a:rPr>
                        <a:t>E3_iterative_r3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</a:rPr>
                        <a:t>softimpute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</a:rPr>
                        <a:t>21_harmonizr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</a:rPr>
                        <a:t>False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</a:rPr>
                        <a:t>0.099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</a:rPr>
                        <a:t>0.141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</a:rPr>
                        <a:t>5,256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</a:rPr>
                        <a:t>15,226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21"/>
          <p:cNvSpPr txBox="1"/>
          <p:nvPr/>
        </p:nvSpPr>
        <p:spPr>
          <a:xfrm>
            <a:off x="7269460" y="5216180"/>
            <a:ext cx="4755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FSQN R: only method reaching R² &lt; 0.20 on full mixed-platform data with strategy A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HarmonizR: R² = 0.099 with E3 × softimpute — best result in metrics.csv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Harmony: R² &gt; 0.95 — anti-optimal; worsened batch effect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Full 10×25 heatmap pending all 1,000 jobs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228600" y="4572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 4 — Post-normalization batch outlier removal</a:t>
            </a:r>
            <a:endParaRPr sz="1800"/>
          </a:p>
        </p:txBody>
      </p:sp>
      <p:sp>
        <p:nvSpPr>
          <p:cNvPr id="194" name="Google Shape;194;p22"/>
          <p:cNvSpPr txBox="1"/>
          <p:nvPr/>
        </p:nvSpPr>
        <p:spPr>
          <a:xfrm>
            <a:off x="102050" y="1097275"/>
            <a:ext cx="11967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After normalization: identify batches whose PCA centroid is &gt;2σ from global mean → remove those samples → recompute matrix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– post_rm=False  →  __post0  — normalized output as-is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– post_rm=True   →  __post1  — normalized output with outlier batches removed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Purpose: 'second-chance' dimension — tests whether residual outlier batches can be remediated without re-normalizing</a:t>
            </a:r>
            <a:endParaRPr sz="1800"/>
          </a:p>
        </p:txBody>
      </p:sp>
      <p:sp>
        <p:nvSpPr>
          <p:cNvPr id="195" name="Google Shape;195;p22"/>
          <p:cNvSpPr txBox="1"/>
          <p:nvPr/>
        </p:nvSpPr>
        <p:spPr>
          <a:xfrm>
            <a:off x="365760" y="2544175"/>
            <a:ext cx="114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Concrete examples from logs/norm_log_e3_260428.txt (E3_iterative_r3 × strict):</a:t>
            </a:r>
            <a:endParaRPr sz="1900"/>
          </a:p>
        </p:txBody>
      </p:sp>
      <p:graphicFrame>
        <p:nvGraphicFramePr>
          <p:cNvPr id="196" name="Google Shape;196;p22"/>
          <p:cNvGraphicFramePr/>
          <p:nvPr/>
        </p:nvGraphicFramePr>
        <p:xfrm>
          <a:off x="102035" y="3108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2497500"/>
                <a:gridCol w="1570500"/>
                <a:gridCol w="1321025"/>
                <a:gridCol w="2415300"/>
                <a:gridCol w="41636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post0 R²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post1 R²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Batch removed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Effect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19_tdm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0.548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0.518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GPL1708_FF_Unknown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−0.030 — meaningful improvement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09_ruv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0.383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0.380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GPL1708_FF_Unknown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−0.003 — negligible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06_combat_seq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0.336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0.337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GPL1708_FF_Unknown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+0.001 — no improvement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21_harmonizr (strict)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0.101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0.101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GPL1708_FF_Unknown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 — already optimal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21_harmonizr (softimpute)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0.099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0.099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— none detected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 — already fully integrated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22"/>
          <p:cNvSpPr/>
          <p:nvPr/>
        </p:nvSpPr>
        <p:spPr>
          <a:xfrm>
            <a:off x="286375" y="5737673"/>
            <a:ext cx="11430000" cy="921900"/>
          </a:xfrm>
          <a:prstGeom prst="rect">
            <a:avLst/>
          </a:prstGeom>
          <a:solidFill>
            <a:srgbClr val="FFF0D0"/>
          </a:solidFill>
          <a:ln cap="flat" cmpd="sng" w="9525">
            <a:solidFill>
              <a:srgbClr val="D3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423550" y="5868222"/>
            <a:ext cx="11064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GPL1708_FF_Unknown (Illumina microarray) is consistently the residual outlier across most methods on E3.</a:t>
            </a:r>
            <a:br>
              <a:rPr b="0" i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 well-performing methods (HarmonizR), post_rm has no effect — the batch is already integrated.</a:t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/>
          <p:nvPr/>
        </p:nvSpPr>
        <p:spPr>
          <a:xfrm>
            <a:off x="603450" y="3922025"/>
            <a:ext cx="3287400" cy="559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4CC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6279125" y="4876025"/>
            <a:ext cx="5650200" cy="15066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7585875" y="3343200"/>
            <a:ext cx="2919300" cy="785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4143450" y="1491700"/>
            <a:ext cx="2181300" cy="1996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358800" y="1491700"/>
            <a:ext cx="2919300" cy="1185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228600" y="45720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Two-stage computational pipeline architecture</a:t>
            </a:r>
            <a:endParaRPr sz="2200"/>
          </a:p>
        </p:txBody>
      </p:sp>
      <p:sp>
        <p:nvSpPr>
          <p:cNvPr id="211" name="Google Shape;211;p23"/>
          <p:cNvSpPr txBox="1"/>
          <p:nvPr/>
        </p:nvSpPr>
        <p:spPr>
          <a:xfrm>
            <a:off x="459600" y="1491700"/>
            <a:ext cx="3000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RAW DATA (S3)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comb_exp.tsv (~1.9 GB · ~7,174 samples × ~20,000 genes)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3489625" y="1888650"/>
            <a:ext cx="493800" cy="41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4250275" y="1551550"/>
            <a:ext cx="2120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STAGE 1 — FILTER STRATEGIES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S0_no_removal                   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A_confirmed_bad           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B_extended_bad               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C_rnaseq_only             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D_malignant_only                  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E1 / E2 / E3  ◄──PCA         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F_microarray_only   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G_affymetrix_only                       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7622725" y="3351900"/>
            <a:ext cx="30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STAGE 3 </a:t>
            </a: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log_transform_by_cohort()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[log2(x+1) where max &gt; 30] </a:t>
            </a: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/>
          </a:p>
        </p:txBody>
      </p:sp>
      <p:sp>
        <p:nvSpPr>
          <p:cNvPr id="215" name="Google Shape;215;p23"/>
          <p:cNvSpPr/>
          <p:nvPr/>
        </p:nvSpPr>
        <p:spPr>
          <a:xfrm>
            <a:off x="6551300" y="1878550"/>
            <a:ext cx="493800" cy="41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7342550" y="1492300"/>
            <a:ext cx="3901200" cy="1200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7342550" y="1489800"/>
            <a:ext cx="4165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STAGE 2 </a:t>
            </a: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Imputation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strict:     dropna → 3,520 genes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knn:        KNNImputer → ~12k genes (S0)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missforest: FAILED  (&gt;24h / 240 GB)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softimpute: softImpute → ~11k genes (S0) 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8" name="Google Shape;218;p23"/>
          <p:cNvSpPr/>
          <p:nvPr/>
        </p:nvSpPr>
        <p:spPr>
          <a:xfrm rot="5400000">
            <a:off x="8875817" y="2823903"/>
            <a:ext cx="493800" cy="41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 rot="5400000">
            <a:off x="8875817" y="4296366"/>
            <a:ext cx="493800" cy="41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6370375" y="4876025"/>
            <a:ext cx="5699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STAGE 4 — NORMALIZATION 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apply one of 25 methods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Low:  raw · median_scaling · limma · sva · tmm* · vst*    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Med:  combat · pycombat · ruv · mnn · harmony · scanorama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harmonizr · peer** · inmoose · combat_seq · fsmvn 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High: qsmooth · fsqn_py · fsqn_r · quantile · rank · tdm  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shambhala · angel                                                                                            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21" name="Google Shape;221;p23"/>
          <p:cNvSpPr/>
          <p:nvPr/>
        </p:nvSpPr>
        <p:spPr>
          <a:xfrm rot="10800000">
            <a:off x="5530475" y="5408975"/>
            <a:ext cx="493800" cy="41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358800" y="5217875"/>
            <a:ext cx="4751700" cy="785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522125" y="5236775"/>
            <a:ext cx="4456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STAGE 5 - POST-NORMALIZATION BATCH REMOVAL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post_rm=False → post0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post_rm=True → remove outlier → post1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735025" y="4026600"/>
            <a:ext cx="445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STAGE 6 - METRICS CALCULATION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225" name="Google Shape;225;p23"/>
          <p:cNvSpPr/>
          <p:nvPr/>
        </p:nvSpPr>
        <p:spPr>
          <a:xfrm rot="-5400000">
            <a:off x="2256232" y="4643752"/>
            <a:ext cx="493800" cy="41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Selected method: Feature-Specific Quantile Normalization (FSQN R package)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365748" y="1005850"/>
            <a:ext cx="530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Reference: Franks, Cai &amp; Whitfield, Biostatistics 2018 </a:t>
            </a:r>
            <a:endParaRPr b="0" i="1" sz="15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doi.org/10.1093/biostatistics/kxx028</a:t>
            </a:r>
            <a:r>
              <a:rPr b="0" i="1" lang="en-US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/>
          </a:p>
        </p:txBody>
      </p:sp>
      <p:sp>
        <p:nvSpPr>
          <p:cNvPr id="234" name="Google Shape;234;p24"/>
          <p:cNvSpPr txBox="1"/>
          <p:nvPr/>
        </p:nvSpPr>
        <p:spPr>
          <a:xfrm>
            <a:off x="365760" y="1508760"/>
            <a:ext cx="56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Algorithm (per gene independently):</a:t>
            </a:r>
            <a:endParaRPr sz="1700"/>
          </a:p>
        </p:txBody>
      </p:sp>
      <p:sp>
        <p:nvSpPr>
          <p:cNvPr id="235" name="Google Shape;235;p24"/>
          <p:cNvSpPr txBox="1"/>
          <p:nvPr/>
        </p:nvSpPr>
        <p:spPr>
          <a:xfrm>
            <a:off x="365760" y="1828800"/>
            <a:ext cx="5669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Compute empirical quantile distribution in the reference batch (RNASeq_FF_PolyA, n=1,039)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For each non-reference batch: map each sample's value to the corresponding quantile in the reference distribution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Apply the quantile mapping function — aligns distribution shape within each gene, not across genes</a:t>
            </a:r>
            <a:endParaRPr sz="1700"/>
          </a:p>
        </p:txBody>
      </p:sp>
      <p:sp>
        <p:nvSpPr>
          <p:cNvPr id="236" name="Google Shape;236;p24"/>
          <p:cNvSpPr txBox="1"/>
          <p:nvPr/>
        </p:nvSpPr>
        <p:spPr>
          <a:xfrm>
            <a:off x="365760" y="3291840"/>
            <a:ext cx="56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Why better than standard QN:</a:t>
            </a:r>
            <a:endParaRPr sz="1700"/>
          </a:p>
        </p:txBody>
      </p:sp>
      <p:sp>
        <p:nvSpPr>
          <p:cNvPr id="237" name="Google Shape;237;p24"/>
          <p:cNvSpPr txBox="1"/>
          <p:nvPr/>
        </p:nvSpPr>
        <p:spPr>
          <a:xfrm>
            <a:off x="365760" y="3611880"/>
            <a:ext cx="5669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Standard QN forces all genes to the same global distribution — ignores that different genes have different biological variance. FSQN aligns per-gene distributions only, preserving relative expression differences.</a:t>
            </a:r>
            <a:endParaRPr sz="1700"/>
          </a:p>
        </p:txBody>
      </p:sp>
      <p:sp>
        <p:nvSpPr>
          <p:cNvPr id="238" name="Google Shape;238;p24"/>
          <p:cNvSpPr txBox="1"/>
          <p:nvPr/>
        </p:nvSpPr>
        <p:spPr>
          <a:xfrm>
            <a:off x="365760" y="4709160"/>
            <a:ext cx="56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Configuration:</a:t>
            </a:r>
            <a:endParaRPr sz="1700"/>
          </a:p>
        </p:txBody>
      </p:sp>
      <p:sp>
        <p:nvSpPr>
          <p:cNvPr id="239" name="Google Shape;239;p24"/>
          <p:cNvSpPr txBox="1"/>
          <p:nvPr/>
        </p:nvSpPr>
        <p:spPr>
          <a:xfrm>
            <a:off x="365760" y="5029200"/>
            <a:ext cx="5669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Reference batch: RNASeq_FF_PolyA (1,039 samples — highest quality, largest RNA-seq batch)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Via rpy2 file-based interface: expression → tempfile → R reads/writes → Python reads result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Pre-computed output: $FL_DATA_ROOT/fsqn_normalized_exp_R.tsv</a:t>
            </a:r>
            <a:endParaRPr sz="1700"/>
          </a:p>
        </p:txBody>
      </p:sp>
      <p:sp>
        <p:nvSpPr>
          <p:cNvPr id="240" name="Google Shape;240;p24"/>
          <p:cNvSpPr/>
          <p:nvPr/>
        </p:nvSpPr>
        <p:spPr>
          <a:xfrm>
            <a:off x="6217920" y="1097280"/>
            <a:ext cx="5669280" cy="3749039"/>
          </a:xfrm>
          <a:prstGeom prst="rect">
            <a:avLst/>
          </a:prstGeom>
          <a:solidFill>
            <a:srgbClr val="F0F6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6400800" y="1188720"/>
            <a:ext cx="53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Current limitation</a:t>
            </a:r>
            <a:endParaRPr sz="1800"/>
          </a:p>
        </p:txBody>
      </p:sp>
      <p:sp>
        <p:nvSpPr>
          <p:cNvPr id="242" name="Google Shape;242;p24"/>
          <p:cNvSpPr txBox="1"/>
          <p:nvPr/>
        </p:nvSpPr>
        <p:spPr>
          <a:xfrm>
            <a:off x="6400800" y="1554480"/>
            <a:ext cx="5303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Even after FSQN, the formal SOM-space batch test fails:</a:t>
            </a:r>
            <a:b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Different cell types from the same platform cluster together more tightly than the same cell type across platforms.</a:t>
            </a:r>
            <a:b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FSQN corrects well in gene-expression PCA space — but platform-specific gene-set activation patterns remain in SOM metagene space.</a:t>
            </a:r>
            <a:b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→ Restricting SOM analysis to RNA-seq-only samples is the current recommendation.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 of top normalization approaches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274320" y="109728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Values from pre-benchmark exploration (harmonization_benchmark.ipynb). Formal benchmark metrics pending full run. R² values omitted where unverified — will be populated from metrics.csv after all 1,000 jobs complete.</a:t>
            </a:r>
            <a:endParaRPr/>
          </a:p>
        </p:txBody>
      </p:sp>
      <p:graphicFrame>
        <p:nvGraphicFramePr>
          <p:cNvPr id="251" name="Google Shape;251;p25"/>
          <p:cNvGraphicFramePr/>
          <p:nvPr/>
        </p:nvGraphicFramePr>
        <p:xfrm>
          <a:off x="27432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2286000"/>
                <a:gridCol w="822950"/>
                <a:gridCol w="1280150"/>
                <a:gridCol w="4206250"/>
                <a:gridCol w="301752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Method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Batch R²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Biology (R² diag)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Key limitation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Verdict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Raw (no normalization)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Reference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Baseline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limma removeBatchEffect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Partial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Additive only; multiplicative effects remain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Partial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ComBat (Johnson 2007)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Good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Requires complete matrix; fails with BEAMs in large gene space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Not selected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SVA (Leek 2012)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Good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0 SVs detected on full data; falls through to uncorrected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Not selected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qsmooth (Hicks 2018)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Partial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Fails on 12/88 cohorts; partial improvement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Partial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Standard QN (Bolstad 2003)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Good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Forces one global distribution; 5 outlier batches remain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Good — not selected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FSQN Python re-impl.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Good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Slightly weaker than R package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Alternative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FSQN R (Franks 2018)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Best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Requires reference batch; gene space restricted to intersection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★ SELECTED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Harmony (Korsunsky 2019)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Worsened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Embedding-based; back-projection to gene space loses structure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REJECTED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HarmonizR (Voss 2022)*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0.099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0.141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E3×softimpute only; slow (~14 min/run)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Promising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TMM / VST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RNA-seq only; inapplicable to mixed-platform 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</a:rPr>
                        <a:t>Inapplicable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252;p2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* HarmonizR E3×softimpute result from metrics.csv (2026-04-28 run)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we measure batch effect: PCA R² (one-way ANOVA)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365760" y="10972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Formula:</a:t>
            </a:r>
            <a:endParaRPr/>
          </a:p>
        </p:txBody>
      </p:sp>
      <p:sp>
        <p:nvSpPr>
          <p:cNvPr id="261" name="Google Shape;261;p26"/>
          <p:cNvSpPr/>
          <p:nvPr/>
        </p:nvSpPr>
        <p:spPr>
          <a:xfrm>
            <a:off x="365750" y="1463053"/>
            <a:ext cx="5449200" cy="22968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411480" y="1508760"/>
            <a:ext cx="52122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R²_PC  =  SS_between_batches  /  SS_total</a:t>
            </a:r>
            <a:endParaRPr b="1"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where SS = Sum of Squares</a:t>
            </a:r>
            <a:endParaRPr b="1"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SS_between  =  variance in that PC attributable to batch membership</a:t>
            </a:r>
            <a:endParaRPr b="1"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SS_total    =  total variance in that PC across all samples</a:t>
            </a:r>
            <a:endParaRPr b="1"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mean R²  =  (1/10) × Σ R²_PC    (averaged over first 10 PCA components)</a:t>
            </a:r>
            <a:endParaRPr b="1" sz="1500"/>
          </a:p>
        </p:txBody>
      </p:sp>
      <p:sp>
        <p:nvSpPr>
          <p:cNvPr id="263" name="Google Shape;263;p26"/>
          <p:cNvSpPr txBox="1"/>
          <p:nvPr/>
        </p:nvSpPr>
        <p:spPr>
          <a:xfrm>
            <a:off x="228600" y="3960725"/>
            <a:ext cx="5914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R² = 1.0: all variance in that PC explained by batch — pure technical noise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R² = 0.0: batch has no predictive power — ideal (biology-preserving)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Baseline (raw data): R² ≈ 0.95  — source: harmonization_benchmark.ipynb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Current best (HarmonizR, E3×softimpute): R² = 0.099  — source: metrics.csv</a:t>
            </a:r>
            <a:endParaRPr sz="1600"/>
          </a:p>
        </p:txBody>
      </p:sp>
      <p:sp>
        <p:nvSpPr>
          <p:cNvPr id="264" name="Google Shape;264;p26"/>
          <p:cNvSpPr txBox="1"/>
          <p:nvPr/>
        </p:nvSpPr>
        <p:spPr>
          <a:xfrm>
            <a:off x="6207570" y="1417330"/>
            <a:ext cx="55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Complementary metric — R² diagnosis:</a:t>
            </a:r>
            <a:endParaRPr sz="1900"/>
          </a:p>
        </p:txBody>
      </p:sp>
      <p:sp>
        <p:nvSpPr>
          <p:cNvPr id="265" name="Google Shape;265;p26"/>
          <p:cNvSpPr txBox="1"/>
          <p:nvPr/>
        </p:nvSpPr>
        <p:spPr>
          <a:xfrm>
            <a:off x="6207570" y="1783090"/>
            <a:ext cx="557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Same formula applied to Diagnosis_cell_type_unified.</a:t>
            </a:r>
            <a:b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Measures biological signal preserved after normalization.</a:t>
            </a:r>
            <a:b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 want: batch R² LOW  and  diagnosis R² HIGH.</a:t>
            </a:r>
            <a:endParaRPr sz="1900"/>
          </a:p>
        </p:txBody>
      </p:sp>
      <p:sp>
        <p:nvSpPr>
          <p:cNvPr id="266" name="Google Shape;266;p26"/>
          <p:cNvSpPr/>
          <p:nvPr/>
        </p:nvSpPr>
        <p:spPr>
          <a:xfrm>
            <a:off x="6342170" y="3209435"/>
            <a:ext cx="5577900" cy="3291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6479425" y="3231288"/>
            <a:ext cx="530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Batch R² range across completed methods (E3 × strict, from metrics.csv):</a:t>
            </a:r>
            <a:endParaRPr sz="1700"/>
          </a:p>
        </p:txBody>
      </p:sp>
      <p:sp>
        <p:nvSpPr>
          <p:cNvPr id="268" name="Google Shape;268;p26"/>
          <p:cNvSpPr/>
          <p:nvPr/>
        </p:nvSpPr>
        <p:spPr>
          <a:xfrm>
            <a:off x="6799370" y="3803795"/>
            <a:ext cx="3962400" cy="3201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6799370" y="3849515"/>
            <a:ext cx="502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01_raw  0.520</a:t>
            </a:r>
            <a:endParaRPr sz="1700"/>
          </a:p>
        </p:txBody>
      </p:sp>
      <p:sp>
        <p:nvSpPr>
          <p:cNvPr id="270" name="Google Shape;270;p26"/>
          <p:cNvSpPr/>
          <p:nvPr/>
        </p:nvSpPr>
        <p:spPr>
          <a:xfrm>
            <a:off x="6799370" y="4233563"/>
            <a:ext cx="2560200" cy="320100"/>
          </a:xfrm>
          <a:prstGeom prst="rect">
            <a:avLst/>
          </a:prstGeom>
          <a:solidFill>
            <a:srgbClr val="D37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6799370" y="4279283"/>
            <a:ext cx="502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06_combat_seq  0.336</a:t>
            </a:r>
            <a:endParaRPr sz="1700"/>
          </a:p>
        </p:txBody>
      </p:sp>
      <p:sp>
        <p:nvSpPr>
          <p:cNvPr id="272" name="Google Shape;272;p26"/>
          <p:cNvSpPr/>
          <p:nvPr/>
        </p:nvSpPr>
        <p:spPr>
          <a:xfrm>
            <a:off x="6799370" y="4663331"/>
            <a:ext cx="2918400" cy="320100"/>
          </a:xfrm>
          <a:prstGeom prst="rect">
            <a:avLst/>
          </a:prstGeom>
          <a:solidFill>
            <a:srgbClr val="D37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6799370" y="4709051"/>
            <a:ext cx="502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09_ruv  0.383</a:t>
            </a:r>
            <a:endParaRPr sz="1700"/>
          </a:p>
        </p:txBody>
      </p:sp>
      <p:sp>
        <p:nvSpPr>
          <p:cNvPr id="274" name="Google Shape;274;p26"/>
          <p:cNvSpPr/>
          <p:nvPr/>
        </p:nvSpPr>
        <p:spPr>
          <a:xfrm>
            <a:off x="6799370" y="5093099"/>
            <a:ext cx="4175700" cy="3201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6799370" y="5138819"/>
            <a:ext cx="502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19_tdm  0.548</a:t>
            </a:r>
            <a:endParaRPr sz="1700"/>
          </a:p>
        </p:txBody>
      </p:sp>
      <p:sp>
        <p:nvSpPr>
          <p:cNvPr id="276" name="Google Shape;276;p26"/>
          <p:cNvSpPr/>
          <p:nvPr/>
        </p:nvSpPr>
        <p:spPr>
          <a:xfrm>
            <a:off x="6799370" y="5522867"/>
            <a:ext cx="769500" cy="320100"/>
          </a:xfrm>
          <a:prstGeom prst="rect">
            <a:avLst/>
          </a:prstGeom>
          <a:solidFill>
            <a:srgbClr val="1E7A4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7569001" y="5559750"/>
            <a:ext cx="179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21_harmonizr  0.101</a:t>
            </a:r>
            <a:endParaRPr sz="1700"/>
          </a:p>
        </p:txBody>
      </p:sp>
      <p:sp>
        <p:nvSpPr>
          <p:cNvPr id="278" name="Google Shape;278;p26"/>
          <p:cNvSpPr txBox="1"/>
          <p:nvPr/>
        </p:nvSpPr>
        <p:spPr>
          <a:xfrm>
            <a:off x="351155" y="5736475"/>
            <a:ext cx="566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Angel (25_angel) uses a reduced gene space — R² is not directly comparable with other methods.</a:t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228600" y="4572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run status — as of 2026-04-28</a:t>
            </a:r>
            <a:endParaRPr sz="1800"/>
          </a:p>
        </p:txBody>
      </p:sp>
      <p:sp>
        <p:nvSpPr>
          <p:cNvPr id="286" name="Google Shape;286;p27"/>
          <p:cNvSpPr/>
          <p:nvPr/>
        </p:nvSpPr>
        <p:spPr>
          <a:xfrm>
            <a:off x="274320" y="1097280"/>
            <a:ext cx="5577840" cy="2377440"/>
          </a:xfrm>
          <a:prstGeom prst="rect">
            <a:avLst/>
          </a:prstGeom>
          <a:solidFill>
            <a:srgbClr val="F0F6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457200" y="1188720"/>
            <a:ext cx="530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Stage 1 — Preparation (40 pairs total)</a:t>
            </a:r>
            <a:endParaRPr sz="1800"/>
          </a:p>
        </p:txBody>
      </p:sp>
      <p:sp>
        <p:nvSpPr>
          <p:cNvPr id="288" name="Google Shape;288;p27"/>
          <p:cNvSpPr txBox="1"/>
          <p:nvPr/>
        </p:nvSpPr>
        <p:spPr>
          <a:xfrm>
            <a:off x="457200" y="1508760"/>
            <a:ext cx="53034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~31 prepared pairs on S3 (62 files: exp + ann per pair)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~9 missing pairs: all involve missforest imputation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missforest FAILURE: ran &gt;24 hours on 16 CPUs / 240 GB RAM; Kubernetes pod was killed with no automated restart → removed from active benchmark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3 active imputations (strict, knn, softimpute): all fully prepared</a:t>
            </a:r>
            <a:endParaRPr sz="1800"/>
          </a:p>
        </p:txBody>
      </p:sp>
      <p:sp>
        <p:nvSpPr>
          <p:cNvPr id="289" name="Google Shape;289;p27"/>
          <p:cNvSpPr/>
          <p:nvPr/>
        </p:nvSpPr>
        <p:spPr>
          <a:xfrm>
            <a:off x="6126480" y="1097280"/>
            <a:ext cx="5760720" cy="2377440"/>
          </a:xfrm>
          <a:prstGeom prst="rect">
            <a:avLst/>
          </a:prstGeom>
          <a:solidFill>
            <a:srgbClr val="F0F6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6190374" y="1165625"/>
            <a:ext cx="587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Stage 2 — Normalization (1,000 jobs → 2,000 files)</a:t>
            </a:r>
            <a:endParaRPr sz="2100"/>
          </a:p>
        </p:txBody>
      </p:sp>
      <p:sp>
        <p:nvSpPr>
          <p:cNvPr id="291" name="Google Shape;291;p27"/>
          <p:cNvSpPr txBox="1"/>
          <p:nvPr/>
        </p:nvSpPr>
        <p:spPr>
          <a:xfrm>
            <a:off x="6309360" y="1508760"/>
            <a:ext cx="5486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Output files on S3: 1,116 (as of 2026-04-28 evening)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Completed job combos: 558 (each → post0 + post1)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Skipped (TMM/VST on mixed, PEER): included in total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• Failed jobs in failed_jobs_norm.txt: 31 entries (to be retried)</a:t>
            </a:r>
            <a:endParaRPr sz="2100"/>
          </a:p>
        </p:txBody>
      </p:sp>
      <p:sp>
        <p:nvSpPr>
          <p:cNvPr id="292" name="Google Shape;292;p27"/>
          <p:cNvSpPr txBox="1"/>
          <p:nvPr/>
        </p:nvSpPr>
        <p:spPr>
          <a:xfrm>
            <a:off x="274320" y="3549430"/>
            <a:ext cx="1161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Timeline of outputs (source: current_normalized_files_260428.txt):</a:t>
            </a:r>
            <a:endParaRPr sz="1800"/>
          </a:p>
        </p:txBody>
      </p:sp>
      <p:graphicFrame>
        <p:nvGraphicFramePr>
          <p:cNvPr id="293" name="Google Shape;293;p27"/>
          <p:cNvGraphicFramePr/>
          <p:nvPr/>
        </p:nvGraphicFramePr>
        <p:xfrm>
          <a:off x="274320" y="3931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1645925"/>
                <a:gridCol w="1645925"/>
                <a:gridCol w="8321050"/>
              </a:tblGrid>
              <a:tr h="33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Date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Outputs produced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Phase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33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2026-04-19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309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Initial run (early strategies/methods)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3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2026-04-20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38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Continued initial run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3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2026-04-26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179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After refactoring + pod relaunch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3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2026-04-27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408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Large batch — E3 strategies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3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2026-04-28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133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E3 × softimpute completion (logs/norm_log_e3_260428.txt)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27"/>
          <p:cNvSpPr/>
          <p:nvPr/>
        </p:nvSpPr>
        <p:spPr>
          <a:xfrm>
            <a:off x="274332" y="5965720"/>
            <a:ext cx="11613000" cy="685800"/>
          </a:xfrm>
          <a:prstGeom prst="rect">
            <a:avLst/>
          </a:prstGeom>
          <a:solidFill>
            <a:srgbClr val="E8F8E8"/>
          </a:solidFill>
          <a:ln cap="flat" cmpd="sng" w="9525">
            <a:solidFill>
              <a:srgbClr val="1E7A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457213" y="6011440"/>
            <a:ext cx="112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🏆  Recent milestone: E3 × softimpute × HarmonizR — R² batch = 0.099 — new lowest score across all completed runs</a:t>
            </a:r>
            <a:br>
              <a:rPr b="1" i="0" lang="en-US" sz="12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Source: metrics.csv row: E3_iterative_r3, softimpute, 21_harmonizr, post_rm=False → r2_batch=0.09861, r2_diag=0.14055, 5256 samples, 15226 genes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15A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problems solved during benchmark development (1/2)</a:t>
            </a: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274320" y="1097280"/>
            <a:ext cx="11612880" cy="164592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457200" y="1143000"/>
            <a:ext cx="1124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1. rpy2 fork-safety issues</a:t>
            </a:r>
            <a:endParaRPr sz="1900"/>
          </a:p>
        </p:txBody>
      </p:sp>
      <p:sp>
        <p:nvSpPr>
          <p:cNvPr id="305" name="Google Shape;305;p28"/>
          <p:cNvSpPr txBox="1"/>
          <p:nvPr/>
        </p:nvSpPr>
        <p:spPr>
          <a:xfrm>
            <a:off x="457200" y="1463040"/>
            <a:ext cx="1124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Problem: Running multiple R sessions via rpy2 in a multiprocessing pool caused memory corruption and crashes.</a:t>
            </a:r>
            <a:endParaRPr sz="1900"/>
          </a:p>
        </p:txBody>
      </p:sp>
      <p:sp>
        <p:nvSpPr>
          <p:cNvPr id="306" name="Google Shape;306;p28"/>
          <p:cNvSpPr txBox="1"/>
          <p:nvPr/>
        </p:nvSpPr>
        <p:spPr>
          <a:xfrm>
            <a:off x="457200" y="1920240"/>
            <a:ext cx="11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Solution: Each normalization job runs as an isolated subprocess (fresh Python + R session). ThreadPoolExecutor launches subprocesses — threads manage processes, processes own R sessions.</a:t>
            </a:r>
            <a:endParaRPr sz="1900"/>
          </a:p>
        </p:txBody>
      </p:sp>
      <p:sp>
        <p:nvSpPr>
          <p:cNvPr id="307" name="Google Shape;307;p28"/>
          <p:cNvSpPr/>
          <p:nvPr/>
        </p:nvSpPr>
        <p:spPr>
          <a:xfrm>
            <a:off x="274320" y="2880360"/>
            <a:ext cx="11612880" cy="164592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457200" y="2926080"/>
            <a:ext cx="1124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2. Two-stage pipeline design</a:t>
            </a:r>
            <a:endParaRPr sz="1900"/>
          </a:p>
        </p:txBody>
      </p:sp>
      <p:sp>
        <p:nvSpPr>
          <p:cNvPr id="309" name="Google Shape;309;p28"/>
          <p:cNvSpPr txBox="1"/>
          <p:nvPr/>
        </p:nvSpPr>
        <p:spPr>
          <a:xfrm>
            <a:off x="457200" y="3246120"/>
            <a:ext cx="11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Problem: Each of 1,000 workers re-downloading the 1.9 GB expression matrix and re-running imputation was prohibitively slow and redundant.</a:t>
            </a:r>
            <a:endParaRPr sz="1900"/>
          </a:p>
        </p:txBody>
      </p:sp>
      <p:sp>
        <p:nvSpPr>
          <p:cNvPr id="310" name="Google Shape;310;p28"/>
          <p:cNvSpPr txBox="1"/>
          <p:nvPr/>
        </p:nvSpPr>
        <p:spPr>
          <a:xfrm>
            <a:off x="457200" y="3756845"/>
            <a:ext cx="11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Solution: Separated Stage 1 (preparation, 40 jobs) from Stage 2 (normalization, 1,000 jobs). Stage 2 workers download only the ~600 MB pre-prepared file for their (strategy, imputation) pair.</a:t>
            </a:r>
            <a:endParaRPr sz="1900"/>
          </a:p>
        </p:txBody>
      </p:sp>
      <p:sp>
        <p:nvSpPr>
          <p:cNvPr id="311" name="Google Shape;311;p28"/>
          <p:cNvSpPr/>
          <p:nvPr/>
        </p:nvSpPr>
        <p:spPr>
          <a:xfrm>
            <a:off x="274320" y="4663440"/>
            <a:ext cx="11612880" cy="164592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457200" y="4663435"/>
            <a:ext cx="1124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3. Residual NaN handling (BEAM genes)</a:t>
            </a:r>
            <a:endParaRPr sz="1900"/>
          </a:p>
        </p:txBody>
      </p:sp>
      <p:sp>
        <p:nvSpPr>
          <p:cNvPr id="313" name="Google Shape;313;p28"/>
          <p:cNvSpPr txBox="1"/>
          <p:nvPr/>
        </p:nvSpPr>
        <p:spPr>
          <a:xfrm>
            <a:off x="457200" y="5029200"/>
            <a:ext cx="11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Problem: KNN and softImpute leave residual NaN for genes absent from entire batches. Early code used fillna(median) — statistically incorrect (Hui 2023: inflates noise irreversibly).</a:t>
            </a:r>
            <a:endParaRPr sz="1900"/>
          </a:p>
        </p:txBody>
      </p:sp>
      <p:sp>
        <p:nvSpPr>
          <p:cNvPr id="314" name="Google Shape;314;p28"/>
          <p:cNvSpPr txBox="1"/>
          <p:nvPr/>
        </p:nvSpPr>
        <p:spPr>
          <a:xfrm>
            <a:off x="457200" y="5589575"/>
            <a:ext cx="11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Solution: Literature-backed decision: dropna(axis=1) for all 24 methods; HarmonizR handles BEAMs internally. Documented in research notes with citations.</a:t>
            </a:r>
            <a:endParaRPr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15B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problems solved during benchmark development (2/2)</a:t>
            </a:r>
            <a:endParaRPr/>
          </a:p>
        </p:txBody>
      </p:sp>
      <p:sp>
        <p:nvSpPr>
          <p:cNvPr id="322" name="Google Shape;322;p29"/>
          <p:cNvSpPr/>
          <p:nvPr/>
        </p:nvSpPr>
        <p:spPr>
          <a:xfrm>
            <a:off x="274320" y="1097280"/>
            <a:ext cx="11612880" cy="164592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 txBox="1"/>
          <p:nvPr/>
        </p:nvSpPr>
        <p:spPr>
          <a:xfrm>
            <a:off x="457200" y="1143000"/>
            <a:ext cx="1124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4. Memory management on K8s pod (16 CPU / 240 GB RAM)</a:t>
            </a:r>
            <a:endParaRPr sz="1900"/>
          </a:p>
        </p:txBody>
      </p:sp>
      <p:sp>
        <p:nvSpPr>
          <p:cNvPr id="324" name="Google Shape;324;p29"/>
          <p:cNvSpPr txBox="1"/>
          <p:nvPr/>
        </p:nvSpPr>
        <p:spPr>
          <a:xfrm>
            <a:off x="457200" y="1463040"/>
            <a:ext cx="11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Problem: OOM crashes when running high-memory methods (HarmonizR, missForest) with large softimpute gene spaces (~15,000 genes × 5,256 samples). missForest failed to complete in &gt;24 hours.</a:t>
            </a:r>
            <a:endParaRPr sz="1900"/>
          </a:p>
        </p:txBody>
      </p:sp>
      <p:sp>
        <p:nvSpPr>
          <p:cNvPr id="325" name="Google Shape;325;p29"/>
          <p:cNvSpPr txBox="1"/>
          <p:nvPr/>
        </p:nvSpPr>
        <p:spPr>
          <a:xfrm>
            <a:off x="457200" y="2030815"/>
            <a:ext cx="11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Solution/Status: Three-level memory guard in dispatcher + worker-level checks + gc.collect() + R GC calls. missForest removed from benchmark. HarmonizR requires ~14 min and ~40 GB peak RAM.</a:t>
            </a:r>
            <a:endParaRPr sz="1900"/>
          </a:p>
        </p:txBody>
      </p:sp>
      <p:sp>
        <p:nvSpPr>
          <p:cNvPr id="326" name="Google Shape;326;p29"/>
          <p:cNvSpPr/>
          <p:nvPr/>
        </p:nvSpPr>
        <p:spPr>
          <a:xfrm>
            <a:off x="274320" y="2880360"/>
            <a:ext cx="11612880" cy="164592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9"/>
          <p:cNvSpPr txBox="1"/>
          <p:nvPr/>
        </p:nvSpPr>
        <p:spPr>
          <a:xfrm>
            <a:off x="457200" y="2926080"/>
            <a:ext cx="1124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5. Shambhala2 R package environment issue</a:t>
            </a:r>
            <a:endParaRPr sz="1900"/>
          </a:p>
        </p:txBody>
      </p:sp>
      <p:sp>
        <p:nvSpPr>
          <p:cNvPr id="328" name="Google Shape;328;p29"/>
          <p:cNvSpPr txBox="1"/>
          <p:nvPr/>
        </p:nvSpPr>
        <p:spPr>
          <a:xfrm>
            <a:off x="457200" y="3246120"/>
            <a:ext cx="11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Problem: library(Shambhala2) throws 'there is no package called Shambhala2' in the pod — even though installation was attempted. Source: logs/norm_log_e3_260428.txt</a:t>
            </a:r>
            <a:endParaRPr sz="1900"/>
          </a:p>
        </p:txBody>
      </p:sp>
      <p:sp>
        <p:nvSpPr>
          <p:cNvPr id="329" name="Google Shape;329;p29"/>
          <p:cNvSpPr txBox="1"/>
          <p:nvPr/>
        </p:nvSpPr>
        <p:spPr>
          <a:xfrm>
            <a:off x="457200" y="3816020"/>
            <a:ext cx="11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Solution/Status: All shambhala jobs fail and are logged in failed_jobs_norm.txt. Root cause to be investigated — likely GitHub package installation failure during pod init script.</a:t>
            </a:r>
            <a:endParaRPr sz="1900"/>
          </a:p>
        </p:txBody>
      </p:sp>
      <p:sp>
        <p:nvSpPr>
          <p:cNvPr id="330" name="Google Shape;330;p29"/>
          <p:cNvSpPr/>
          <p:nvPr/>
        </p:nvSpPr>
        <p:spPr>
          <a:xfrm>
            <a:off x="274320" y="4663440"/>
            <a:ext cx="11612880" cy="164592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 txBox="1"/>
          <p:nvPr/>
        </p:nvSpPr>
        <p:spPr>
          <a:xfrm>
            <a:off x="457200" y="4709160"/>
            <a:ext cx="1124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6. Kubernetes deployment</a:t>
            </a:r>
            <a:endParaRPr sz="1900"/>
          </a:p>
        </p:txBody>
      </p:sp>
      <p:sp>
        <p:nvSpPr>
          <p:cNvPr id="332" name="Google Shape;332;p29"/>
          <p:cNvSpPr txBox="1"/>
          <p:nvPr/>
        </p:nvSpPr>
        <p:spPr>
          <a:xfrm>
            <a:off x="457200" y="5029200"/>
            <a:ext cx="11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Problem: Building a reproducible pod environment with R 4.5 + Bioconductor 3.22 + 12 R packages + Python packages takes 30–40 minutes and must work reliably across pod restarts.</a:t>
            </a:r>
            <a:endParaRPr sz="1900"/>
          </a:p>
        </p:txBody>
      </p:sp>
      <p:sp>
        <p:nvSpPr>
          <p:cNvPr id="333" name="Google Shape;333;p29"/>
          <p:cNvSpPr txBox="1"/>
          <p:nvPr/>
        </p:nvSpPr>
        <p:spPr>
          <a:xfrm>
            <a:off x="457200" y="5579950"/>
            <a:ext cx="1124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Solution/Status: Dockerfile + k8s/pod-ssh.yaml embed requirements.txt and install_r_packages.R inline. VSCode Remote-SSH via port-forward; scripts synced by rsync from Mac.</a:t>
            </a:r>
            <a:endParaRPr sz="1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228600" y="4572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 effect testing — completed and to-do assessments</a:t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274325" y="1097274"/>
            <a:ext cx="11613000" cy="150300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1E7A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0"/>
          <p:cNvSpPr txBox="1"/>
          <p:nvPr/>
        </p:nvSpPr>
        <p:spPr>
          <a:xfrm>
            <a:off x="457205" y="1137624"/>
            <a:ext cx="1124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1. Primary benchmark metric (PCA R² batch)  ✅</a:t>
            </a:r>
            <a:endParaRPr sz="1700"/>
          </a:p>
        </p:txBody>
      </p:sp>
      <p:sp>
        <p:nvSpPr>
          <p:cNvPr id="343" name="Google Shape;343;p30"/>
          <p:cNvSpPr txBox="1"/>
          <p:nvPr/>
        </p:nvSpPr>
        <p:spPr>
          <a:xfrm>
            <a:off x="640085" y="1460422"/>
            <a:ext cx="110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Computed for all completed E3-strategy jobs; stored in harmonization-scripts/metrics.csv (local partial copy; full on S3)</a:t>
            </a:r>
            <a:endParaRPr sz="1700"/>
          </a:p>
        </p:txBody>
      </p:sp>
      <p:sp>
        <p:nvSpPr>
          <p:cNvPr id="344" name="Google Shape;344;p30"/>
          <p:cNvSpPr txBox="1"/>
          <p:nvPr/>
        </p:nvSpPr>
        <p:spPr>
          <a:xfrm>
            <a:off x="640085" y="1843744"/>
            <a:ext cx="110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136 rows: E3 × {strict, knn, softimpute} × all applicable methods</a:t>
            </a:r>
            <a:endParaRPr sz="1700"/>
          </a:p>
        </p:txBody>
      </p:sp>
      <p:sp>
        <p:nvSpPr>
          <p:cNvPr id="345" name="Google Shape;345;p30"/>
          <p:cNvSpPr txBox="1"/>
          <p:nvPr/>
        </p:nvSpPr>
        <p:spPr>
          <a:xfrm>
            <a:off x="640085" y="2227067"/>
            <a:ext cx="110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Provides a single scalar per output matrix; enables cross-method ranking</a:t>
            </a:r>
            <a:endParaRPr sz="1700"/>
          </a:p>
        </p:txBody>
      </p:sp>
      <p:sp>
        <p:nvSpPr>
          <p:cNvPr id="346" name="Google Shape;346;p30"/>
          <p:cNvSpPr/>
          <p:nvPr/>
        </p:nvSpPr>
        <p:spPr>
          <a:xfrm>
            <a:off x="274325" y="2701176"/>
            <a:ext cx="11613000" cy="111960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D3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457205" y="2741526"/>
            <a:ext cx="1124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2. Visual QC (PCA / UMAP / tSNE)  — to be done</a:t>
            </a:r>
            <a:endParaRPr sz="1700"/>
          </a:p>
        </p:txBody>
      </p:sp>
      <p:sp>
        <p:nvSpPr>
          <p:cNvPr id="348" name="Google Shape;348;p30"/>
          <p:cNvSpPr txBox="1"/>
          <p:nvPr/>
        </p:nvSpPr>
        <p:spPr>
          <a:xfrm>
            <a:off x="640085" y="3064324"/>
            <a:ext cx="110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Planned for top-10 normalization outputs in harmonization_benchmark.ipynb</a:t>
            </a:r>
            <a:endParaRPr sz="1700"/>
          </a:p>
        </p:txBody>
      </p:sp>
      <p:sp>
        <p:nvSpPr>
          <p:cNvPr id="349" name="Google Shape;349;p30"/>
          <p:cNvSpPr txBox="1"/>
          <p:nvPr/>
        </p:nvSpPr>
        <p:spPr>
          <a:xfrm>
            <a:off x="640085" y="3447646"/>
            <a:ext cx="110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Colored by RNA_BATCH, Diagnosis, platform, FF/FFPE, tumor/normal</a:t>
            </a:r>
            <a:endParaRPr sz="1700"/>
          </a:p>
        </p:txBody>
      </p:sp>
      <p:sp>
        <p:nvSpPr>
          <p:cNvPr id="350" name="Google Shape;350;p30"/>
          <p:cNvSpPr/>
          <p:nvPr/>
        </p:nvSpPr>
        <p:spPr>
          <a:xfrm>
            <a:off x="274325" y="3921755"/>
            <a:ext cx="11613000" cy="150300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 txBox="1"/>
          <p:nvPr/>
        </p:nvSpPr>
        <p:spPr>
          <a:xfrm>
            <a:off x="457205" y="3962105"/>
            <a:ext cx="1124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3. SOM metagene space batch test  — </a:t>
            </a:r>
            <a:r>
              <a:rPr b="1" lang="en-US" sz="16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to be done with top-5 selected approaches</a:t>
            </a:r>
            <a:endParaRPr sz="1700">
              <a:solidFill>
                <a:srgbClr val="BF9000"/>
              </a:solidFill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640085" y="4284903"/>
            <a:ext cx="110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 oposSOM on FSQN R and QN outputs (results already presented)</a:t>
            </a:r>
            <a:endParaRPr sz="1700"/>
          </a:p>
        </p:txBody>
      </p:sp>
      <p:sp>
        <p:nvSpPr>
          <p:cNvPr id="353" name="Google Shape;353;p30"/>
          <p:cNvSpPr txBox="1"/>
          <p:nvPr/>
        </p:nvSpPr>
        <p:spPr>
          <a:xfrm>
            <a:off x="640085" y="4668225"/>
            <a:ext cx="110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Result: batch test fails in metagene space — cell types from same platform cluster more tightly than same cell type across platforms</a:t>
            </a:r>
            <a:endParaRPr sz="1700"/>
          </a:p>
        </p:txBody>
      </p:sp>
      <p:sp>
        <p:nvSpPr>
          <p:cNvPr id="354" name="Google Shape;354;p30"/>
          <p:cNvSpPr txBox="1"/>
          <p:nvPr/>
        </p:nvSpPr>
        <p:spPr>
          <a:xfrm>
            <a:off x="640085" y="5051548"/>
            <a:ext cx="110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FSQN corrects well in gene-expression PCA space — but platform-specific gene-set activation remains in SOM metagene space</a:t>
            </a:r>
            <a:endParaRPr sz="1700"/>
          </a:p>
        </p:txBody>
      </p:sp>
      <p:sp>
        <p:nvSpPr>
          <p:cNvPr id="355" name="Google Shape;355;p30"/>
          <p:cNvSpPr/>
          <p:nvPr/>
        </p:nvSpPr>
        <p:spPr>
          <a:xfrm>
            <a:off x="274325" y="5525657"/>
            <a:ext cx="11613000" cy="111960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D3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457205" y="5566007"/>
            <a:ext cx="1124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4. Strategy-level comparison  — to be done</a:t>
            </a:r>
            <a:endParaRPr sz="1700"/>
          </a:p>
        </p:txBody>
      </p:sp>
      <p:sp>
        <p:nvSpPr>
          <p:cNvPr id="357" name="Google Shape;357;p30"/>
          <p:cNvSpPr txBox="1"/>
          <p:nvPr/>
        </p:nvSpPr>
        <p:spPr>
          <a:xfrm>
            <a:off x="640085" y="5888805"/>
            <a:ext cx="110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Strategies C (RNA-seq only), G (Affymetrix only), F (microarray only) establish within-platform baselines</a:t>
            </a:r>
            <a:endParaRPr sz="1700"/>
          </a:p>
        </p:txBody>
      </p:sp>
      <p:sp>
        <p:nvSpPr>
          <p:cNvPr id="358" name="Google Shape;358;p30"/>
          <p:cNvSpPr txBox="1"/>
          <p:nvPr/>
        </p:nvSpPr>
        <p:spPr>
          <a:xfrm>
            <a:off x="640085" y="6272127"/>
            <a:ext cx="110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Comparison against S0/A/B will quantify the benefit of cross-platform normalization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17A</a:t>
            </a:r>
            <a:endParaRPr/>
          </a:p>
        </p:txBody>
      </p:sp>
      <p:sp>
        <p:nvSpPr>
          <p:cNvPr id="365" name="Google Shape;365;p31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Remaining batch effect assessment approaches (1/2)</a:t>
            </a:r>
            <a:endParaRPr/>
          </a:p>
        </p:txBody>
      </p:sp>
      <p:sp>
        <p:nvSpPr>
          <p:cNvPr id="366" name="Google Shape;366;p31"/>
          <p:cNvSpPr/>
          <p:nvPr/>
        </p:nvSpPr>
        <p:spPr>
          <a:xfrm>
            <a:off x="274320" y="1097280"/>
            <a:ext cx="11612880" cy="1389888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 txBox="1"/>
          <p:nvPr/>
        </p:nvSpPr>
        <p:spPr>
          <a:xfrm>
            <a:off x="457200" y="1133856"/>
            <a:ext cx="112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1. PCA R² heatmap across full cross-product</a:t>
            </a:r>
            <a:endParaRPr sz="1900"/>
          </a:p>
        </p:txBody>
      </p:sp>
      <p:sp>
        <p:nvSpPr>
          <p:cNvPr id="368" name="Google Shape;368;p31"/>
          <p:cNvSpPr txBox="1"/>
          <p:nvPr/>
        </p:nvSpPr>
        <p:spPr>
          <a:xfrm>
            <a:off x="640080" y="1426464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Pending: all 1,000 jobs complete</a:t>
            </a:r>
            <a:endParaRPr sz="1900"/>
          </a:p>
        </p:txBody>
      </p:sp>
      <p:sp>
        <p:nvSpPr>
          <p:cNvPr id="369" name="Google Shape;369;p31"/>
          <p:cNvSpPr txBox="1"/>
          <p:nvPr/>
        </p:nvSpPr>
        <p:spPr>
          <a:xfrm>
            <a:off x="640080" y="1773936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Will produce 10 strategies × 25 methods heatmap for each of 3 active imputations × 2 post variants = 6 heatmaps total</a:t>
            </a:r>
            <a:endParaRPr sz="1900"/>
          </a:p>
        </p:txBody>
      </p:sp>
      <p:sp>
        <p:nvSpPr>
          <p:cNvPr id="370" name="Google Shape;370;p31"/>
          <p:cNvSpPr txBox="1"/>
          <p:nvPr/>
        </p:nvSpPr>
        <p:spPr>
          <a:xfrm>
            <a:off x="640080" y="2121408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Key question: is FSQN R consistently best, or does it interact with strategy / imputation choice?</a:t>
            </a:r>
            <a:endParaRPr sz="1900"/>
          </a:p>
        </p:txBody>
      </p:sp>
      <p:sp>
        <p:nvSpPr>
          <p:cNvPr id="371" name="Google Shape;371;p31"/>
          <p:cNvSpPr/>
          <p:nvPr/>
        </p:nvSpPr>
        <p:spPr>
          <a:xfrm>
            <a:off x="274320" y="2578608"/>
            <a:ext cx="11612880" cy="1389888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 txBox="1"/>
          <p:nvPr/>
        </p:nvSpPr>
        <p:spPr>
          <a:xfrm>
            <a:off x="457200" y="2615184"/>
            <a:ext cx="112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2. Visual inspection of PCA / UMAP / tSNE plots for top-10 approaches</a:t>
            </a:r>
            <a:endParaRPr sz="1900"/>
          </a:p>
        </p:txBody>
      </p:sp>
      <p:sp>
        <p:nvSpPr>
          <p:cNvPr id="373" name="Google Shape;373;p31"/>
          <p:cNvSpPr txBox="1"/>
          <p:nvPr/>
        </p:nvSpPr>
        <p:spPr>
          <a:xfrm>
            <a:off x="640080" y="2907792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To be done manually in harmonization_benchmark.ipynb after loading top-10 expression matrices</a:t>
            </a:r>
            <a:endParaRPr sz="1900"/>
          </a:p>
        </p:txBody>
      </p:sp>
      <p:sp>
        <p:nvSpPr>
          <p:cNvPr id="374" name="Google Shape;374;p31"/>
          <p:cNvSpPr txBox="1"/>
          <p:nvPr/>
        </p:nvSpPr>
        <p:spPr>
          <a:xfrm>
            <a:off x="640080" y="3255264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Colored by RNA_BATCH, Diagnosis, platform, FF/FFPE, tumor/normal</a:t>
            </a:r>
            <a:endParaRPr sz="1900"/>
          </a:p>
        </p:txBody>
      </p:sp>
      <p:sp>
        <p:nvSpPr>
          <p:cNvPr id="375" name="Google Shape;375;p31"/>
          <p:cNvSpPr txBox="1"/>
          <p:nvPr/>
        </p:nvSpPr>
        <p:spPr>
          <a:xfrm>
            <a:off x="640080" y="3602736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Will include comparison against 10 representative bad-normalization cases to visualize the contrast</a:t>
            </a:r>
            <a:endParaRPr sz="1900"/>
          </a:p>
        </p:txBody>
      </p:sp>
      <p:sp>
        <p:nvSpPr>
          <p:cNvPr id="376" name="Google Shape;376;p31"/>
          <p:cNvSpPr/>
          <p:nvPr/>
        </p:nvSpPr>
        <p:spPr>
          <a:xfrm>
            <a:off x="274320" y="4059936"/>
            <a:ext cx="11612880" cy="1389888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1"/>
          <p:cNvSpPr txBox="1"/>
          <p:nvPr/>
        </p:nvSpPr>
        <p:spPr>
          <a:xfrm>
            <a:off x="457200" y="4096512"/>
            <a:ext cx="112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3. Distribution plots by cohort after normalization</a:t>
            </a:r>
            <a:endParaRPr sz="1900"/>
          </a:p>
        </p:txBody>
      </p:sp>
      <p:sp>
        <p:nvSpPr>
          <p:cNvPr id="378" name="Google Shape;378;p31"/>
          <p:cNvSpPr txBox="1"/>
          <p:nvPr/>
        </p:nvSpPr>
        <p:spPr>
          <a:xfrm>
            <a:off x="640080" y="4389120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Visual inspection of per-cohort expression distributions before/after normalization</a:t>
            </a:r>
            <a:endParaRPr sz="1900"/>
          </a:p>
        </p:txBody>
      </p:sp>
      <p:sp>
        <p:nvSpPr>
          <p:cNvPr id="379" name="Google Shape;379;p31"/>
          <p:cNvSpPr txBox="1"/>
          <p:nvPr/>
        </p:nvSpPr>
        <p:spPr>
          <a:xfrm>
            <a:off x="640080" y="4736592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Box plots or violin plots colored by RNA_BATCH for top-10 methods</a:t>
            </a:r>
            <a:endParaRPr sz="1900"/>
          </a:p>
        </p:txBody>
      </p:sp>
      <p:sp>
        <p:nvSpPr>
          <p:cNvPr id="380" name="Google Shape;380;p31"/>
          <p:cNvSpPr txBox="1"/>
          <p:nvPr/>
        </p:nvSpPr>
        <p:spPr>
          <a:xfrm>
            <a:off x="640080" y="5084064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Will reveal residual cohort-level shifts not captured by PCA R²</a:t>
            </a:r>
            <a:endParaRPr sz="1900"/>
          </a:p>
        </p:txBody>
      </p:sp>
      <p:sp>
        <p:nvSpPr>
          <p:cNvPr id="381" name="Google Shape;381;p31"/>
          <p:cNvSpPr/>
          <p:nvPr/>
        </p:nvSpPr>
        <p:spPr>
          <a:xfrm>
            <a:off x="274320" y="5541264"/>
            <a:ext cx="11612880" cy="1389888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457200" y="5577840"/>
            <a:ext cx="112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4. kBET (Büttner 2019) — k-nearest neighbor batch effect test</a:t>
            </a:r>
            <a:endParaRPr sz="1900"/>
          </a:p>
        </p:txBody>
      </p:sp>
      <p:sp>
        <p:nvSpPr>
          <p:cNvPr id="383" name="Google Shape;383;p31"/>
          <p:cNvSpPr txBox="1"/>
          <p:nvPr/>
        </p:nvSpPr>
        <p:spPr>
          <a:xfrm>
            <a:off x="640080" y="5870448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Formal statistical test: are k nearest neighbors of each sample enriched for same-batch samples?</a:t>
            </a:r>
            <a:endParaRPr sz="1900"/>
          </a:p>
        </p:txBody>
      </p:sp>
      <p:sp>
        <p:nvSpPr>
          <p:cNvPr id="384" name="Google Shape;384;p31"/>
          <p:cNvSpPr txBox="1"/>
          <p:nvPr/>
        </p:nvSpPr>
        <p:spPr>
          <a:xfrm>
            <a:off x="640080" y="6217920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More sensitive than PCA R²; operates at individual sample level</a:t>
            </a:r>
            <a:endParaRPr sz="1900"/>
          </a:p>
        </p:txBody>
      </p:sp>
      <p:sp>
        <p:nvSpPr>
          <p:cNvPr id="385" name="Google Shape;385;p31"/>
          <p:cNvSpPr txBox="1"/>
          <p:nvPr/>
        </p:nvSpPr>
        <p:spPr>
          <a:xfrm>
            <a:off x="640080" y="6565392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Status: not yet implemented — planned addition to bench_shared.py</a:t>
            </a:r>
            <a:endParaRPr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17B</a:t>
            </a:r>
            <a:endParaRPr/>
          </a:p>
        </p:txBody>
      </p:sp>
      <p:sp>
        <p:nvSpPr>
          <p:cNvPr id="392" name="Google Shape;392;p32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Remaining batch effect assessment approaches (2/2)</a:t>
            </a:r>
            <a:endParaRPr/>
          </a:p>
        </p:txBody>
      </p:sp>
      <p:sp>
        <p:nvSpPr>
          <p:cNvPr id="393" name="Google Shape;393;p32"/>
          <p:cNvSpPr/>
          <p:nvPr/>
        </p:nvSpPr>
        <p:spPr>
          <a:xfrm>
            <a:off x="274325" y="1097275"/>
            <a:ext cx="11613000" cy="129540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2"/>
          <p:cNvSpPr txBox="1"/>
          <p:nvPr/>
        </p:nvSpPr>
        <p:spPr>
          <a:xfrm>
            <a:off x="457205" y="1131362"/>
            <a:ext cx="1124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5. LISI (Korsunsky 2019) — Local Inverse Simpson's Index</a:t>
            </a:r>
            <a:endParaRPr sz="2000"/>
          </a:p>
        </p:txBody>
      </p:sp>
      <p:sp>
        <p:nvSpPr>
          <p:cNvPr id="395" name="Google Shape;395;p32"/>
          <p:cNvSpPr txBox="1"/>
          <p:nvPr/>
        </p:nvSpPr>
        <p:spPr>
          <a:xfrm>
            <a:off x="640085" y="1404060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iLISI (integration LISI) — higher = better batch mixing</a:t>
            </a:r>
            <a:endParaRPr sz="2000"/>
          </a:p>
        </p:txBody>
      </p:sp>
      <p:sp>
        <p:nvSpPr>
          <p:cNvPr id="396" name="Google Shape;396;p32"/>
          <p:cNvSpPr txBox="1"/>
          <p:nvPr/>
        </p:nvSpPr>
        <p:spPr>
          <a:xfrm>
            <a:off x="640085" y="1727887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cLISI (cell-type LISI) — higher = better biology preservation</a:t>
            </a:r>
            <a:endParaRPr sz="2000"/>
          </a:p>
        </p:txBody>
      </p:sp>
      <p:sp>
        <p:nvSpPr>
          <p:cNvPr id="397" name="Google Shape;397;p32"/>
          <p:cNvSpPr txBox="1"/>
          <p:nvPr/>
        </p:nvSpPr>
        <p:spPr>
          <a:xfrm>
            <a:off x="640085" y="2051715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Status: not yet implemented — planned as supplementary metric</a:t>
            </a:r>
            <a:endParaRPr sz="2000"/>
          </a:p>
        </p:txBody>
      </p:sp>
      <p:sp>
        <p:nvSpPr>
          <p:cNvPr id="398" name="Google Shape;398;p32"/>
          <p:cNvSpPr/>
          <p:nvPr/>
        </p:nvSpPr>
        <p:spPr>
          <a:xfrm>
            <a:off x="274325" y="2477804"/>
            <a:ext cx="11613000" cy="129540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2"/>
          <p:cNvSpPr txBox="1"/>
          <p:nvPr/>
        </p:nvSpPr>
        <p:spPr>
          <a:xfrm>
            <a:off x="457205" y="2511891"/>
            <a:ext cx="1124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6. SOM-space batch test (quantitative)</a:t>
            </a:r>
            <a:endParaRPr sz="2000"/>
          </a:p>
        </p:txBody>
      </p:sp>
      <p:sp>
        <p:nvSpPr>
          <p:cNvPr id="400" name="Google Shape;400;p32"/>
          <p:cNvSpPr txBox="1"/>
          <p:nvPr/>
        </p:nvSpPr>
        <p:spPr>
          <a:xfrm>
            <a:off x="640085" y="2784588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Qualitative SOM portrait comparison (shown previously to supervisor) showed platform clustering</a:t>
            </a:r>
            <a:endParaRPr sz="2000"/>
          </a:p>
        </p:txBody>
      </p:sp>
      <p:sp>
        <p:nvSpPr>
          <p:cNvPr id="401" name="Google Shape;401;p32"/>
          <p:cNvSpPr txBox="1"/>
          <p:nvPr/>
        </p:nvSpPr>
        <p:spPr>
          <a:xfrm>
            <a:off x="640085" y="3108416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Needed: quantify R² of RNA_BATCH on SOM metagene matrix (not raw genes)</a:t>
            </a:r>
            <a:endParaRPr sz="2000"/>
          </a:p>
        </p:txBody>
      </p:sp>
      <p:sp>
        <p:nvSpPr>
          <p:cNvPr id="402" name="Google Shape;402;p32"/>
          <p:cNvSpPr txBox="1"/>
          <p:nvPr/>
        </p:nvSpPr>
        <p:spPr>
          <a:xfrm>
            <a:off x="640085" y="3432244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Status: planned — requires running oposSOM on top-5 normalization outputs</a:t>
            </a:r>
            <a:endParaRPr sz="2000"/>
          </a:p>
        </p:txBody>
      </p:sp>
      <p:sp>
        <p:nvSpPr>
          <p:cNvPr id="403" name="Google Shape;403;p32"/>
          <p:cNvSpPr/>
          <p:nvPr/>
        </p:nvSpPr>
        <p:spPr>
          <a:xfrm>
            <a:off x="274325" y="3858333"/>
            <a:ext cx="11613000" cy="161910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2"/>
          <p:cNvSpPr txBox="1"/>
          <p:nvPr/>
        </p:nvSpPr>
        <p:spPr>
          <a:xfrm>
            <a:off x="457205" y="3892420"/>
            <a:ext cx="1124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7. Silhouette score (batch vs. biology)</a:t>
            </a:r>
            <a:endParaRPr sz="2000"/>
          </a:p>
        </p:txBody>
      </p:sp>
      <p:sp>
        <p:nvSpPr>
          <p:cNvPr id="405" name="Google Shape;405;p32"/>
          <p:cNvSpPr txBox="1"/>
          <p:nvPr/>
        </p:nvSpPr>
        <p:spPr>
          <a:xfrm>
            <a:off x="640085" y="4165117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Batch silhouette with RNA_BATCH labels — want low / negative</a:t>
            </a:r>
            <a:endParaRPr sz="2000"/>
          </a:p>
        </p:txBody>
      </p:sp>
      <p:sp>
        <p:nvSpPr>
          <p:cNvPr id="406" name="Google Shape;406;p32"/>
          <p:cNvSpPr txBox="1"/>
          <p:nvPr/>
        </p:nvSpPr>
        <p:spPr>
          <a:xfrm>
            <a:off x="640085" y="4488945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Biology silhouette with Diagnosis labels — want high</a:t>
            </a:r>
            <a:endParaRPr sz="2000"/>
          </a:p>
        </p:txBody>
      </p:sp>
      <p:sp>
        <p:nvSpPr>
          <p:cNvPr id="407" name="Google Shape;407;p32"/>
          <p:cNvSpPr txBox="1"/>
          <p:nvPr/>
        </p:nvSpPr>
        <p:spPr>
          <a:xfrm>
            <a:off x="640085" y="4812773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Composite ratio: biology silhouette / batch silhouette</a:t>
            </a:r>
            <a:endParaRPr sz="2000"/>
          </a:p>
        </p:txBody>
      </p:sp>
      <p:sp>
        <p:nvSpPr>
          <p:cNvPr id="408" name="Google Shape;408;p32"/>
          <p:cNvSpPr txBox="1"/>
          <p:nvPr/>
        </p:nvSpPr>
        <p:spPr>
          <a:xfrm>
            <a:off x="640085" y="5136600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Status: planned — straightforward addition to bench_shared.py</a:t>
            </a:r>
            <a:endParaRPr sz="2000"/>
          </a:p>
        </p:txBody>
      </p:sp>
      <p:sp>
        <p:nvSpPr>
          <p:cNvPr id="409" name="Google Shape;409;p32"/>
          <p:cNvSpPr/>
          <p:nvPr/>
        </p:nvSpPr>
        <p:spPr>
          <a:xfrm>
            <a:off x="274325" y="5562689"/>
            <a:ext cx="11613000" cy="129540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2"/>
          <p:cNvSpPr txBox="1"/>
          <p:nvPr/>
        </p:nvSpPr>
        <p:spPr>
          <a:xfrm>
            <a:off x="457205" y="5596777"/>
            <a:ext cx="1124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8. Variance partition (Hoffman &amp; Bhatt 2021)</a:t>
            </a:r>
            <a:endParaRPr sz="2000"/>
          </a:p>
        </p:txBody>
      </p:sp>
      <p:sp>
        <p:nvSpPr>
          <p:cNvPr id="411" name="Google Shape;411;p32"/>
          <p:cNvSpPr txBox="1"/>
          <p:nvPr/>
        </p:nvSpPr>
        <p:spPr>
          <a:xfrm>
            <a:off x="640085" y="5869474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Quantifies simultaneous contribution of batch, diagnosis, platform, FF/FFPE to gene-level variance</a:t>
            </a:r>
            <a:endParaRPr sz="2000"/>
          </a:p>
        </p:txBody>
      </p:sp>
      <p:sp>
        <p:nvSpPr>
          <p:cNvPr id="412" name="Google Shape;412;p32"/>
          <p:cNvSpPr txBox="1"/>
          <p:nvPr/>
        </p:nvSpPr>
        <p:spPr>
          <a:xfrm>
            <a:off x="640085" y="6193301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More informative than single-covariate PCA R² — shows covariate interactions</a:t>
            </a:r>
            <a:endParaRPr sz="2000"/>
          </a:p>
        </p:txBody>
      </p:sp>
      <p:sp>
        <p:nvSpPr>
          <p:cNvPr id="413" name="Google Shape;413;p32"/>
          <p:cNvSpPr txBox="1"/>
          <p:nvPr/>
        </p:nvSpPr>
        <p:spPr>
          <a:xfrm>
            <a:off x="640085" y="6517129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Status: planned for top-3 normalization methods comparison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420" name="Google Shape;420;p3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comes next after the benchmark</a:t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365760" y="1097280"/>
            <a:ext cx="114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Immediate — when all 1,000 jobs complete</a:t>
            </a:r>
            <a:endParaRPr sz="1700"/>
          </a:p>
        </p:txBody>
      </p:sp>
      <p:graphicFrame>
        <p:nvGraphicFramePr>
          <p:cNvPr id="422" name="Google Shape;422;p33"/>
          <p:cNvGraphicFramePr/>
          <p:nvPr/>
        </p:nvGraphicFramePr>
        <p:xfrm>
          <a:off x="36576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365750"/>
                <a:gridCol w="11064250"/>
              </a:tblGrid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#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Action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Load full metrics.csv → generate R² heatmaps (10 strats × 25 methods, per imputation × post_rm variant)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2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Identify top-10 combinations by R² batch across the full grid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3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Load top-10 matrices: PCA/UMAP visual QC + per-cohort distribution plots + compare against 10 representative bad-normalization cases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4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Run oposSOM on top-5 normalization outputs to assess SOM-space batch effect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5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Retry 31 failed jobs (--retry-failed)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3" name="Google Shape;423;p33"/>
          <p:cNvSpPr txBox="1"/>
          <p:nvPr/>
        </p:nvSpPr>
        <p:spPr>
          <a:xfrm>
            <a:off x="365760" y="3429000"/>
            <a:ext cx="114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Short term (2–4 weeks)</a:t>
            </a:r>
            <a:endParaRPr sz="1700"/>
          </a:p>
        </p:txBody>
      </p:sp>
      <p:graphicFrame>
        <p:nvGraphicFramePr>
          <p:cNvPr id="424" name="Google Shape;424;p33"/>
          <p:cNvGraphicFramePr/>
          <p:nvPr/>
        </p:nvGraphicFramePr>
        <p:xfrm>
          <a:off x="365760" y="3794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365750"/>
                <a:gridCol w="11064250"/>
              </a:tblGrid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#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Action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1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Proceed with top-method downstream analysis in parallel with remaining benchmark jobs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2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Implement kBET and LISI metrics in bench_shared.py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3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Run variancePartition on the outputs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4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Process CEL files for the German cohort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5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Add more cohorts from BG, ~10 more found</a:t>
                      </a:r>
                      <a:endParaRPr sz="17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5" name="Google Shape;425;p33"/>
          <p:cNvSpPr txBox="1"/>
          <p:nvPr/>
        </p:nvSpPr>
        <p:spPr>
          <a:xfrm>
            <a:off x="365760" y="57607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Dissertation-level</a:t>
            </a:r>
            <a:endParaRPr/>
          </a:p>
        </p:txBody>
      </p:sp>
      <p:sp>
        <p:nvSpPr>
          <p:cNvPr id="426" name="Google Shape;426;p33"/>
          <p:cNvSpPr txBox="1"/>
          <p:nvPr/>
        </p:nvSpPr>
        <p:spPr>
          <a:xfrm>
            <a:off x="365760" y="6024085"/>
            <a:ext cx="1143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Write technical article on harmonization and imputation comparison as a first deliverable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DO end to end SOM analysis for the top approaches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Compare SOM signatures vs. PCA64 vs. internal B-cell typing vs. embeddings for OS/PFS prediction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Validate FL biological subtypes against published literature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433" name="Google Shape;433;p34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Computational infrastructure</a:t>
            </a:r>
            <a:endParaRPr/>
          </a:p>
        </p:txBody>
      </p:sp>
      <p:graphicFrame>
        <p:nvGraphicFramePr>
          <p:cNvPr id="434" name="Google Shape;434;p34"/>
          <p:cNvGraphicFramePr/>
          <p:nvPr/>
        </p:nvGraphicFramePr>
        <p:xfrm>
          <a:off x="274320" y="1097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2103125"/>
                <a:gridCol w="9509750"/>
              </a:tblGrid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K8s pod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fl-batch-correction · ubuntu:24.04 · 16 vCPU / 240 GiB RAM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Python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3.11 · venv collagen_3_11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4.5.3 · Bioconductor 3.22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Key R packages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limma, sva, batchelor, RUVSeq, qsmooth, FSQN, TDM, HarmonizR, missForest, softImpute, edgeR, DESeq2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Key Python pkgs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rpy2, boto3, pandas, numpy, scikit-learn, harmonypy, scanorama, combat, inmoose, psutil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Storage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AWS S3 — $FL_S3_BUCKET/FL_batch_correction/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Persistent vol.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100 GiB PVC fl-workspace for logs and workspace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Job dispatch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ThreadPoolExecutor · 4 workers per stage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Memory guard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Three-level: dispatcher → worker startup → worker post-load (exit code 2 on OOM)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Docker image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${AWS_ACCOUNT_ID}.dkr.ecr.${AWS_REGION}.amazonaws.com/fl-batch-correction:latest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Smoke test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1A"/>
                          </a:solidFill>
                        </a:rPr>
                        <a:t>test_mock.py — 25 methods × 4 imputation approaches on synthetic 80×200 data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5" name="Google Shape;435;p34"/>
          <p:cNvSpPr/>
          <p:nvPr/>
        </p:nvSpPr>
        <p:spPr>
          <a:xfrm>
            <a:off x="274320" y="5852160"/>
            <a:ext cx="11612880" cy="548640"/>
          </a:xfrm>
          <a:prstGeom prst="rect">
            <a:avLst/>
          </a:prstGeom>
          <a:solidFill>
            <a:srgbClr val="F0F6FF"/>
          </a:solidFill>
          <a:ln cap="flat" cmpd="sng" w="952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4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Total compute estimate: ~1,000 jobs × avg 10–30 min/job = ~200–500 CPU-hours for a complete benchmark run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443" name="Google Shape;443;p35"/>
          <p:cNvSpPr txBox="1"/>
          <p:nvPr/>
        </p:nvSpPr>
        <p:spPr>
          <a:xfrm>
            <a:off x="228600" y="4572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and questions </a:t>
            </a:r>
            <a:endParaRPr/>
          </a:p>
        </p:txBody>
      </p:sp>
      <p:sp>
        <p:nvSpPr>
          <p:cNvPr id="444" name="Google Shape;444;p35"/>
          <p:cNvSpPr txBox="1"/>
          <p:nvPr/>
        </p:nvSpPr>
        <p:spPr>
          <a:xfrm>
            <a:off x="274320" y="109728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Completed in the last 2 weeks</a:t>
            </a:r>
            <a:endParaRPr/>
          </a:p>
        </p:txBody>
      </p:sp>
      <p:sp>
        <p:nvSpPr>
          <p:cNvPr id="445" name="Google Shape;445;p35"/>
          <p:cNvSpPr txBox="1"/>
          <p:nvPr/>
        </p:nvSpPr>
        <p:spPr>
          <a:xfrm>
            <a:off x="274320" y="1463040"/>
            <a:ext cx="5669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✅  Two-stage K8s pipeline operational (preparation + normalization separated)</a:t>
            </a:r>
            <a:endParaRPr sz="1500"/>
          </a:p>
        </p:txBody>
      </p:sp>
      <p:sp>
        <p:nvSpPr>
          <p:cNvPr id="446" name="Google Shape;446;p35"/>
          <p:cNvSpPr txBox="1"/>
          <p:nvPr/>
        </p:nvSpPr>
        <p:spPr>
          <a:xfrm>
            <a:off x="274320" y="1847088"/>
            <a:ext cx="5669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✅  25 normalization methods × 4 imputation strategies fully implemented and tested</a:t>
            </a:r>
            <a:endParaRPr sz="1500"/>
          </a:p>
        </p:txBody>
      </p:sp>
      <p:sp>
        <p:nvSpPr>
          <p:cNvPr id="447" name="Google Shape;447;p35"/>
          <p:cNvSpPr txBox="1"/>
          <p:nvPr/>
        </p:nvSpPr>
        <p:spPr>
          <a:xfrm>
            <a:off x="274320" y="2231136"/>
            <a:ext cx="5669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✅  558 out of 1,000 normalization jobs completed; 1,116 output matrices on S3</a:t>
            </a:r>
            <a:endParaRPr sz="1500"/>
          </a:p>
        </p:txBody>
      </p:sp>
      <p:sp>
        <p:nvSpPr>
          <p:cNvPr id="448" name="Google Shape;448;p35"/>
          <p:cNvSpPr txBox="1"/>
          <p:nvPr/>
        </p:nvSpPr>
        <p:spPr>
          <a:xfrm>
            <a:off x="274320" y="2615184"/>
            <a:ext cx="5669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✅  E3×softimpute×HarmonizR: R² batch = 0.099 — new best result (metrics.csv)</a:t>
            </a:r>
            <a:endParaRPr sz="1500"/>
          </a:p>
        </p:txBody>
      </p:sp>
      <p:sp>
        <p:nvSpPr>
          <p:cNvPr id="449" name="Google Shape;449;p35"/>
          <p:cNvSpPr txBox="1"/>
          <p:nvPr/>
        </p:nvSpPr>
        <p:spPr>
          <a:xfrm>
            <a:off x="274320" y="2999232"/>
            <a:ext cx="5669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✅  Literature-backed decision for dropna vs fillna(median) for residual BEAM NaN</a:t>
            </a:r>
            <a:endParaRPr sz="1500"/>
          </a:p>
        </p:txBody>
      </p:sp>
      <p:sp>
        <p:nvSpPr>
          <p:cNvPr id="450" name="Google Shape;450;p35"/>
          <p:cNvSpPr txBox="1"/>
          <p:nvPr/>
        </p:nvSpPr>
        <p:spPr>
          <a:xfrm>
            <a:off x="274320" y="3383280"/>
            <a:ext cx="5669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✅  Dockerfile + K8s pod with R 4.5 + Bioconductor 3.22 fully reproducible</a:t>
            </a:r>
            <a:endParaRPr sz="1500"/>
          </a:p>
        </p:txBody>
      </p:sp>
      <p:sp>
        <p:nvSpPr>
          <p:cNvPr id="451" name="Google Shape;451;p35"/>
          <p:cNvSpPr txBox="1"/>
          <p:nvPr/>
        </p:nvSpPr>
        <p:spPr>
          <a:xfrm>
            <a:off x="274320" y="4023360"/>
            <a:ext cx="566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Key results so far</a:t>
            </a:r>
            <a:endParaRPr sz="2000"/>
          </a:p>
        </p:txBody>
      </p:sp>
      <p:sp>
        <p:nvSpPr>
          <p:cNvPr id="452" name="Google Shape;452;p35"/>
          <p:cNvSpPr txBox="1"/>
          <p:nvPr/>
        </p:nvSpPr>
        <p:spPr>
          <a:xfrm>
            <a:off x="274320" y="4343400"/>
            <a:ext cx="5669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• FSQN R: best on A×strict (pre-benchmark exploration; formal metrics pending)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HarmonizR: R² = 0.099 with E3×softimpute (metrics.csv) — competitive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Harmony: R² &gt; 0.95 — anti-optimal (worsens batch)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• SOM metagene space fails batch test even after FSQN — RNA-seq or microarray-only tracks needed</a:t>
            </a:r>
            <a:endParaRPr sz="2000"/>
          </a:p>
        </p:txBody>
      </p:sp>
      <p:sp>
        <p:nvSpPr>
          <p:cNvPr id="453" name="Google Shape;453;p35"/>
          <p:cNvSpPr/>
          <p:nvPr/>
        </p:nvSpPr>
        <p:spPr>
          <a:xfrm>
            <a:off x="6126480" y="1097280"/>
            <a:ext cx="5852160" cy="5577840"/>
          </a:xfrm>
          <a:prstGeom prst="rect">
            <a:avLst/>
          </a:prstGeom>
          <a:solidFill>
            <a:srgbClr val="FFF8EC"/>
          </a:solidFill>
          <a:ln cap="flat" cmpd="sng" w="9525">
            <a:solidFill>
              <a:srgbClr val="D3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5"/>
          <p:cNvSpPr txBox="1"/>
          <p:nvPr/>
        </p:nvSpPr>
        <p:spPr>
          <a:xfrm>
            <a:off x="6309360" y="1188720"/>
            <a:ext cx="54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Open questions for discussion</a:t>
            </a:r>
            <a:endParaRPr sz="1800"/>
          </a:p>
        </p:txBody>
      </p:sp>
      <p:sp>
        <p:nvSpPr>
          <p:cNvPr id="455" name="Google Shape;455;p35"/>
          <p:cNvSpPr txBox="1"/>
          <p:nvPr/>
        </p:nvSpPr>
        <p:spPr>
          <a:xfrm>
            <a:off x="6309360" y="1600200"/>
            <a:ext cx="548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1. SOM analysis scope</a:t>
            </a:r>
            <a:endParaRPr sz="1800"/>
          </a:p>
        </p:txBody>
      </p:sp>
      <p:sp>
        <p:nvSpPr>
          <p:cNvPr id="456" name="Google Shape;456;p35"/>
          <p:cNvSpPr txBox="1"/>
          <p:nvPr/>
        </p:nvSpPr>
        <p:spPr>
          <a:xfrm>
            <a:off x="6309360" y="1920240"/>
            <a:ext cx="5486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RNA-seq only, or is a separate microarray-only SOM track also worth pursuing alongside the mixed-platform approach?</a:t>
            </a:r>
            <a:endParaRPr sz="1800"/>
          </a:p>
        </p:txBody>
      </p:sp>
      <p:sp>
        <p:nvSpPr>
          <p:cNvPr id="457" name="Google Shape;457;p35"/>
          <p:cNvSpPr txBox="1"/>
          <p:nvPr/>
        </p:nvSpPr>
        <p:spPr>
          <a:xfrm>
            <a:off x="6309360" y="2959415"/>
            <a:ext cx="548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2. Imputation order</a:t>
            </a:r>
            <a:endParaRPr sz="1800"/>
          </a:p>
        </p:txBody>
      </p:sp>
      <p:sp>
        <p:nvSpPr>
          <p:cNvPr id="458" name="Google Shape;458;p35"/>
          <p:cNvSpPr txBox="1"/>
          <p:nvPr/>
        </p:nvSpPr>
        <p:spPr>
          <a:xfrm>
            <a:off x="6309360" y="3279455"/>
            <a:ext cx="548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Should imputation be performed after log-transformation by cohort?</a:t>
            </a:r>
            <a:br>
              <a:rPr b="0" i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Current order: impute → log-transform. Imputing on already log-transformed data is more honest: imputed values will be in log scale. Imputing on raw then log-transforming may artificially correct log offsets for imputed values.</a:t>
            </a:r>
            <a:endParaRPr sz="1800"/>
          </a:p>
        </p:txBody>
      </p:sp>
      <p:sp>
        <p:nvSpPr>
          <p:cNvPr id="459" name="Google Shape;459;p35"/>
          <p:cNvSpPr txBox="1"/>
          <p:nvPr/>
        </p:nvSpPr>
        <p:spPr>
          <a:xfrm>
            <a:off x="6309360" y="4983480"/>
            <a:ext cx="548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3. Within-batch imputation</a:t>
            </a:r>
            <a:endParaRPr sz="1800"/>
          </a:p>
        </p:txBody>
      </p:sp>
      <p:sp>
        <p:nvSpPr>
          <p:cNvPr id="460" name="Google Shape;460;p35"/>
          <p:cNvSpPr txBox="1"/>
          <p:nvPr/>
        </p:nvSpPr>
        <p:spPr>
          <a:xfrm>
            <a:off x="6309360" y="5303520"/>
            <a:ext cx="5486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Should imputation be limited to within-batch rather than across all samples?</a:t>
            </a:r>
            <a:br>
              <a:rPr b="0" i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Within-batch imputation would impute far fewer genes but produce less artificial noise — consistent with the dropna reasoning for BEAMs.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/>
          </a:p>
        </p:txBody>
      </p:sp>
      <p:sp>
        <p:nvSpPr>
          <p:cNvPr id="467" name="Google Shape;467;p36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A1 — Literature anchors for method selection</a:t>
            </a:r>
            <a:endParaRPr/>
          </a:p>
        </p:txBody>
      </p:sp>
      <p:graphicFrame>
        <p:nvGraphicFramePr>
          <p:cNvPr id="468" name="Google Shape;468;p36"/>
          <p:cNvGraphicFramePr/>
          <p:nvPr/>
        </p:nvGraphicFramePr>
        <p:xfrm>
          <a:off x="274320" y="1097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{B0D073C2-5231-4C75-9E6B-18C90AF0B1CF}</a:tableStyleId>
              </a:tblPr>
              <a:tblGrid>
                <a:gridCol w="4114800"/>
                <a:gridCol w="7498075"/>
              </a:tblGrid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Reference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Relevance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Loeffler-Wirth 2019 (Nat Commun)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oposSOM predicts OS in B-lymphomas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Loeffler-Wirth 2022 (Cells)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Continuous LZ↔DZ transitions between lymphoma subtypes via SOM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Franks et al. 2018 (Biostatistics)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FSQN algorithm — doi.org/10.1093/biostatistics/kxx028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Voss et al. 2022 (Nat Commun)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HarmonizR BEAM-aware harmonization — doi.org/10.1038/s41467-022-31214-6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Goh et al. 2023 / 2025 (Briefings in Bioinformatics)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BEAM missing data framework — doi.org/10.1093/bib/bbad055 / bbae583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Hui et al. 2023 (Sci Rep)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Batch-sensitized imputation: M1 vs M2 vs M3 — doi.org/10.1038/s41598-023-35823-7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Hie et al. 2019 (Nature Biotech)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Scanorama gene intersection philosophy — doi.org/10.1038/s41587-019-0113-3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Büttner et al. 2019 (Nature Methods)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kBET batch effect test — doi.org/10.1038/s41592-018-0254-1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Korsunsky et al. 2019 (Nature Methods)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Harmony + LISI metrics — doi.org/10.1038/s41592-019-0619-0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Troyanskaya et al. 2001 (Bioinformatics)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KNN imputation — doi.org/10.1093/bioinformatics/17.6.520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Stekhoven &amp; Bühlmann 2012 (Bioinformatics)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missForest imputation — doi.org/10.1093/bioinformatics/btr597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Hastie et al. 2015 (JMLR)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softImpute matrix completion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6E8F5"/>
                    </a:solidFill>
                  </a:tcPr>
                </a:tc>
              </a:tr>
              <a:tr h="38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Rubin 1976 (Biometrika)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</a:rPr>
                        <a:t>MNAR missing data theory — doi.org/10.1093/biomet/63.3.581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