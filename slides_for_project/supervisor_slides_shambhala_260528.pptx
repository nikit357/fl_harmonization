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Supervisor Update:
Shambhala Harmonization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AACCEE"/>
                </a:solidFill>
              </a:rPr>
              <a:t>Containerization · Parallelization · Speed-up · Full Benchmark Run (1,296 harmonizations)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6616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DDEE"/>
                </a:solidFill>
              </a:rPr>
              <a:t>Pure-Python rewrite (no R / rpy2)  ·  30-worker parallelization  ·  A_E speed-up: 8.6× lab / ~10× real-world  ·  Metrics pipeline ~45% complete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99BBDD"/>
                </a:solidFill>
              </a:rPr>
              <a:t>Daniil Nikitin  ·  BostonGene  ·  2026-05-28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48872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1731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Overview: Two Weeks of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594592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</a:rPr>
              <a:t>Three workstreams completed: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97280"/>
            <a:ext cx="11594592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DA4"/>
                </a:solidFill>
              </a:rPr>
              <a:t>• Shambhala containerization — pure-Python rewrite, no R, no rpy2</a:t>
            </a:r>
          </a:p>
          <a:p>
            <a:pPr algn="l"/>
            <a:r>
              <a:rPr sz="1400" b="1">
                <a:solidFill>
                  <a:srgbClr val="2E6DA4"/>
                </a:solidFill>
              </a:rPr>
              <a:t>• Parallelization &amp; speed-up research — 9 combinations tested; A_E approved and deployed</a:t>
            </a:r>
          </a:p>
          <a:p>
            <a:pPr algn="l"/>
            <a:r>
              <a:rPr sz="1400" b="1">
                <a:solidFill>
                  <a:srgbClr val="2E6DA4"/>
                </a:solidFill>
              </a:rPr>
              <a:t>• Full benchmark run — 1,296 harmonizations completed; metrics calculation ~45% 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797280"/>
            <a:ext cx="11594592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</a:rPr>
              <a:t>Timeline: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147280"/>
            <a:ext cx="11594592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• May 13 — containerized pipeline passes all 30 tests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• May 17 — first Shambhala runs start on K8s pod</a:t>
            </a:r>
          </a:p>
          <a:p>
            <a:pPr algn="l"/>
            <a:r>
              <a:rPr sz="1300" b="0">
                <a:solidFill>
                  <a:srgbClr val="1E7A46"/>
                </a:solidFill>
              </a:rPr>
              <a:t>• May 22 — A_E speed-up deployed; throughput jumps ~10×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• May 24–26 — metrics calculation running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4497280"/>
          <a:ext cx="11594591" cy="1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7566"/>
                <a:gridCol w="6377025"/>
              </a:tblGrid>
              <a:tr h="28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Expression files harmonized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1,296 / 1,296  (100% ✓)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Metrics calculated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579 / 1,296  (~45%)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Speed-up gain (A_E)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~8.6× lab  /  ~10× real-world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Test suite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69 tests pass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48872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1731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Original Pipeline: Why It Had to Change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594592" cy="90000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411712" cy="717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1A1A1A"/>
                </a:solidFill>
                <a:latin typeface="Courier New"/>
              </a:rPr>
              <a:t>R wrapper (Shambhala2.R)</a:t>
            </a:r>
          </a:p>
          <a:p>
            <a:r>
              <a:rPr sz="950">
                <a:solidFill>
                  <a:srgbClr val="1A1A1A"/>
                </a:solidFill>
                <a:latin typeface="Courier New"/>
              </a:rPr>
              <a:t>  → writes P_prim.txt to disk     — merged [Input + P] matrix for QN</a:t>
            </a:r>
          </a:p>
          <a:p>
            <a:r>
              <a:rPr sz="950">
                <a:solidFill>
                  <a:srgbClr val="1A1A1A"/>
                </a:solidFill>
                <a:latin typeface="Courier New"/>
              </a:rPr>
              <a:t>  → writes args.txt to disk       — 3 integers: NH, NP, k</a:t>
            </a:r>
          </a:p>
          <a:p>
            <a:r>
              <a:rPr sz="950">
                <a:solidFill>
                  <a:srgbClr val="1A1A1A"/>
                </a:solidFill>
                <a:latin typeface="Courier New"/>
              </a:rPr>
              <a:t>  → spawns Octave subprocess      — Octave reads P_prim.txt and args.txt</a:t>
            </a:r>
          </a:p>
          <a:p>
            <a:r>
              <a:rPr sz="950">
                <a:solidFill>
                  <a:srgbClr val="1A1A1A"/>
                </a:solidFill>
                <a:latin typeface="Courier New"/>
              </a:rPr>
              <a:t>  → Octave writes Cu_bis.txt      — CuBlock-normalized output matrix</a:t>
            </a:r>
          </a:p>
          <a:p>
            <a:r>
              <a:rPr sz="950">
                <a:solidFill>
                  <a:srgbClr val="1A1A1A"/>
                </a:solidFill>
                <a:latin typeface="Courier New"/>
              </a:rPr>
              <a:t>  → R reads Cu_bis.txt            — applies Q-rescaling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47280"/>
            <a:ext cx="1159459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</a:rPr>
              <a:t>Why each intermediate file exists: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47280"/>
            <a:ext cx="11594592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• P_prim.txt — merged [Input + P] matrix; QN operates on the combined set so all samples share the same rank map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• args.txt — Octave cannot receive Python/R variables directly; integers (NH, NP, k) passed as plain text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• Cu_bis.txt — Octave cannot return data to R; CuBlock output written to disk for R to read 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547280"/>
            <a:ext cx="1159459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Problems: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847280"/>
            <a:ext cx="11594592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• Requires a full R installation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• File collisions when running multiple jobs in parallel from the same directory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• rpy2 version conflicts on newer Python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747280"/>
            <a:ext cx="11594592" cy="380000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793000"/>
            <a:ext cx="11411712" cy="28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37C00"/>
                </a:solidFill>
              </a:rPr>
              <a:t>Solution: eliminate all three files — route data through process stdin/stdout streams instead.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48872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1731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New Pipeline: Python + Octave via Stdin/Stdout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594592" cy="87000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411712" cy="687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1A1A1A"/>
                </a:solidFill>
                <a:latin typeface="Courier New"/>
              </a:rPr>
              <a:t>Python (run_shambhala.py)</a:t>
            </a:r>
          </a:p>
          <a:p>
            <a:r>
              <a:rPr sz="950">
                <a:solidFill>
                  <a:srgbClr val="1A1A1A"/>
                </a:solidFill>
                <a:latin typeface="Courier New"/>
              </a:rPr>
              <a:t>  → gene intersection + NA handling (drop / KNN)</a:t>
            </a:r>
          </a:p>
          <a:p>
            <a:r>
              <a:rPr sz="950">
                <a:solidFill>
                  <a:srgbClr val="1A1A1A"/>
                </a:solidFill>
                <a:latin typeface="Courier New"/>
              </a:rPr>
              <a:t>  → format [batch + P] as TSV → pipe to Octave stdin</a:t>
            </a:r>
          </a:p>
          <a:p>
            <a:r>
              <a:rPr sz="950">
                <a:solidFill>
                  <a:srgbClr val="1A1A1A"/>
                </a:solidFill>
                <a:latin typeface="Courier New"/>
              </a:rPr>
              <a:t>  → Octave (Shambhala2_piped.m) reads /dev/stdin</a:t>
            </a:r>
          </a:p>
          <a:p>
            <a:r>
              <a:rPr sz="950">
                <a:solidFill>
                  <a:srgbClr val="1A1A1A"/>
                </a:solidFill>
                <a:latin typeface="Courier New"/>
              </a:rPr>
              <a:t>  → Octave writes normalized matrix to stdout</a:t>
            </a:r>
          </a:p>
          <a:p>
            <a:r>
              <a:rPr sz="950">
                <a:solidFill>
                  <a:srgbClr val="1A1A1A"/>
                </a:solidFill>
                <a:latin typeface="Courier New"/>
              </a:rPr>
              <a:t>  → Python parses stdout → Q-rescaling in NumPy/pandas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47280"/>
            <a:ext cx="11594592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</a:rPr>
              <a:t>Only 3 targeted changes to Shambhala2_piped.m: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67280"/>
            <a:ext cx="11594592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• Remove args.txt reading — NH, NP, k injected via Octave --eval before script start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• readExpressionData("P_prim.txt")  →  readExpressionData('/dev/stdin')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• fopen / fprintf-to-file / fclose  →  fprintf(1, ...)  (stdout = file descriptor 1)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397280"/>
            <a:ext cx="11594592" cy="380000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443000"/>
            <a:ext cx="11411712" cy="28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7A46"/>
                </a:solidFill>
              </a:rPr>
              <a:t>CuBlock.m is UNTOUCHED — the core algorithm is verbatim from the original. All changes are in the I/O layer only.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947280"/>
            <a:ext cx="11594592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• ProcessPoolExecutor (not threads) — each worker is an independent system process with its own Octave subprocess → stdin/stdout pipes can never interfere with each other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• All previous unit tests pass with the new piped implementation (30 tests)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48872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1731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Module Map: Shambhala_containerized/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594592" cy="270000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411712" cy="2517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ourier New"/>
              </a:rPr>
              <a:t>Shambhala_containerized/</a:t>
            </a:r>
          </a:p>
          <a:p>
            <a:r>
              <a:rPr sz="900">
                <a:solidFill>
                  <a:srgbClr val="1A1A1A"/>
                </a:solidFill>
                <a:latin typeface="Courier New"/>
              </a:rPr>
              <a:t>├── run_shambhala.py           ← CLI entry point; orchestrates all steps</a:t>
            </a:r>
          </a:p>
          <a:p>
            <a:r>
              <a:rPr sz="900">
                <a:solidFill>
                  <a:srgbClr val="1A1A1A"/>
                </a:solidFill>
                <a:latin typeface="Courier New"/>
              </a:rPr>
              <a:t>├── shambhala/</a:t>
            </a:r>
          </a:p>
          <a:p>
            <a:r>
              <a:rPr sz="900">
                <a:solidFill>
                  <a:srgbClr val="1A1A1A"/>
                </a:solidFill>
                <a:latin typeface="Courier New"/>
              </a:rPr>
              <a:t>│   ├── octave_bridge.py       ← sends TSV to Octave stdin; reads result from stdout</a:t>
            </a:r>
          </a:p>
          <a:p>
            <a:r>
              <a:rPr sz="900">
                <a:solidFill>
                  <a:srgbClr val="1A1A1A"/>
                </a:solidFill>
                <a:latin typeface="Courier New"/>
              </a:rPr>
              <a:t>│   ├── parallel.py            ← splits samples into worker batches; assembles results</a:t>
            </a:r>
          </a:p>
          <a:p>
            <a:r>
              <a:rPr sz="900">
                <a:solidFill>
                  <a:srgbClr val="1A1A1A"/>
                </a:solidFill>
                <a:latin typeface="Courier New"/>
              </a:rPr>
              <a:t>│   ├── progress_display.py    ← live progress bars in terminal; plain log in K8s</a:t>
            </a:r>
          </a:p>
          <a:p>
            <a:r>
              <a:rPr sz="900">
                <a:solidFill>
                  <a:srgbClr val="1A1A1A"/>
                </a:solidFill>
                <a:latin typeface="Courier New"/>
              </a:rPr>
              <a:t>│   ├── q_rescale.py           ← Q reference stats; gene-level mean/std alignment</a:t>
            </a:r>
          </a:p>
          <a:p>
            <a:r>
              <a:rPr sz="900">
                <a:solidFill>
                  <a:srgbClr val="1A1A1A"/>
                </a:solidFill>
                <a:latin typeface="Courier New"/>
              </a:rPr>
              <a:t>│   ├── na_handling.py         ← missing gene handling (drop or KNN-impute)</a:t>
            </a:r>
          </a:p>
          <a:p>
            <a:r>
              <a:rPr sz="900">
                <a:solidFill>
                  <a:srgbClr val="1A1A1A"/>
                </a:solidFill>
                <a:latin typeface="Courier New"/>
              </a:rPr>
              <a:t>│   └── io_utils.py            ← reads/writes local files and S3 (.csv/.tsv/.tsv.gz)</a:t>
            </a:r>
          </a:p>
          <a:p>
            <a:r>
              <a:rPr sz="900">
                <a:solidFill>
                  <a:srgbClr val="1A1A1A"/>
                </a:solidFill>
                <a:latin typeface="Courier New"/>
              </a:rPr>
              <a:t>├── octave/</a:t>
            </a:r>
          </a:p>
          <a:p>
            <a:r>
              <a:rPr sz="900">
                <a:solidFill>
                  <a:srgbClr val="1A1A1A"/>
                </a:solidFill>
                <a:latin typeface="Courier New"/>
              </a:rPr>
              <a:t>│   ├── Shambhala2_piped.m     ← 3 targeted edits (stdin/stdout)</a:t>
            </a:r>
          </a:p>
          <a:p>
            <a:r>
              <a:rPr sz="900">
                <a:solidFill>
                  <a:srgbClr val="1A1A1A"/>
                </a:solidFill>
                <a:latin typeface="Courier New"/>
              </a:rPr>
              <a:t>│   ├── CuBlock.m              ← VERBATIM — zero changes</a:t>
            </a:r>
          </a:p>
          <a:p>
            <a:r>
              <a:rPr sz="900">
                <a:solidFill>
                  <a:srgbClr val="1A1A1A"/>
                </a:solidFill>
                <a:latin typeface="Courier New"/>
              </a:rPr>
              <a:t>│   └── *.m (3 files)          ← verbatim copies (QN, kmeans, readExpressionData)</a:t>
            </a:r>
          </a:p>
          <a:p>
            <a:r>
              <a:rPr sz="900">
                <a:solidFill>
                  <a:srgbClr val="1A1A1A"/>
                </a:solidFill>
                <a:latin typeface="Courier New"/>
              </a:rPr>
              <a:t>├── harmonization_scripts/     ← cross-product benchmark (18 P/Q × 3 imp = 54 jobs)</a:t>
            </a:r>
          </a:p>
          <a:p>
            <a:r>
              <a:rPr sz="900">
                <a:solidFill>
                  <a:srgbClr val="1A1A1A"/>
                </a:solidFill>
                <a:latin typeface="Courier New"/>
              </a:rPr>
              <a:t>└── tests/ (30 passing tests)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897280"/>
            <a:ext cx="11594592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</a:rPr>
              <a:t>• progress_display.py: TTY mode = live ANSI progress bars; K8s mode = plain timestamped log lines (no interactive terminal in pod)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• ProcessPoolExecutor (not threads): each worker is a separate OS process with its own Octave subprocess — stdin/stdout pipes are fully isolated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• Tests: 30 unit tests (containerization) + 39 additional tests (speed-up fixtures) = 69 total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48872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1731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Initial Parallelization: Shambhala-Workers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594592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• Before parallelization: Shambhala processes one sample at a time (sequential loop inside Octave)</a:t>
            </a:r>
          </a:p>
          <a:p>
            <a:pPr algn="l"/>
            <a:r>
              <a:rPr sz="1200" b="0">
                <a:solidFill>
                  <a:srgbClr val="C0392B"/>
                </a:solidFill>
              </a:rPr>
              <a:t>• Running full 5,444-sample FL dataset in a single Octave process: ~9 hours for P0std × Q0std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77280"/>
            <a:ext cx="1159459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</a:rPr>
              <a:t>Solution: --n-shambhala-workers splits samples into N batches: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77280"/>
            <a:ext cx="11594592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• Input divided into N equal batches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• Each batch sent to a separate Octave subprocess (independent process, own stdin/stdout pipe)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• All batches run in parallel using ProcessPoolExecutor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• Results assembled; Q-rescaling applied once on the merged output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3047280"/>
          <a:ext cx="11594591" cy="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7025"/>
                <a:gridCol w="5217566"/>
              </a:tblGrid>
              <a:tr h="23333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Configuration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Time for P0std × Q0std, full dataset (strict)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</a:tr>
              <a:tr h="23333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1 worker (sequential Octave)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~9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33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30 workers (parallel batches, K8s pod 32 vCPU)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~1–2 hours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3897280"/>
            <a:ext cx="11594592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0392B"/>
                </a:solidFill>
              </a:rPr>
              <a:t>• Remaining problem: large P variants (ANTE, GTExAffy, NBGPL570, NP=250) still took 6–8 h even with 30 workers</a:t>
            </a:r>
          </a:p>
          <a:p>
            <a:pPr algn="l"/>
            <a:r>
              <a:rPr sz="1100" b="0">
                <a:solidFill>
                  <a:srgbClr val="C0392B"/>
                </a:solidFill>
              </a:rPr>
              <a:t>• KNN and softimpute imputation (more genes after imputation) grew 4–5× further</a:t>
            </a:r>
          </a:p>
          <a:p>
            <a:pPr algn="l"/>
            <a:r>
              <a:rPr sz="1100" b="0">
                <a:solidFill>
                  <a:srgbClr val="C0392B"/>
                </a:solidFill>
              </a:rPr>
              <a:t>• Single large-P run under knn/softimpute: 2–3 days — full 54-job benchmark projected to take weeks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947280"/>
            <a:ext cx="11594592" cy="350000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993000"/>
            <a:ext cx="11411712" cy="25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37C00"/>
                </a:solidFill>
              </a:rPr>
              <a:t>Root cause: QN and CuBlock both slow down when P is larger (NP=250 vs NP=39). Goal: cache computations identical across all N worker batches within one job.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48872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1731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P/Q Reference Datasets: What Was Tested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59459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FL input (S0, strict): 7,174 samples × 3,447 genes.  Shambhala needs P (QN calibration anchor) and Q (final rescaling target).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07280"/>
            <a:ext cx="5797296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</a:rPr>
              <a:t>P datasets (9 variants)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677280"/>
          <a:ext cx="11594591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9188"/>
                <a:gridCol w="1159459"/>
                <a:gridCol w="8695944"/>
              </a:tblGrid>
              <a:tr h="2700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Samples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1A"/>
                          </a:solidFill>
                        </a:rPr>
                        <a:t>P0std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1A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1A"/>
                          </a:solidFill>
                        </a:rPr>
                        <a:t>Original Borisov 2021 / Zenodo; diverse tissues; standard benchmark reference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1A"/>
                          </a:solidFill>
                        </a:rPr>
                        <a:t>NBKass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1A"/>
                          </a:solidFill>
                        </a:rPr>
                        <a:t>141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1A"/>
                          </a:solidFill>
                        </a:rPr>
                        <a:t>Normal B cells, Kassandra; B-cell specific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1A"/>
                          </a:solidFill>
                        </a:rPr>
                        <a:t>NBRNAseq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1A"/>
                          </a:solidFill>
                        </a:rPr>
                        <a:t>317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1A"/>
                          </a:solidFill>
                        </a:rPr>
                        <a:t>Normal B cells, RNA-seq; platform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1A"/>
                          </a:solidFill>
                        </a:rPr>
                        <a:t>NBGPL570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1A"/>
                          </a:solidFill>
                        </a:rPr>
                        <a:t>250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1A"/>
                          </a:solidFill>
                        </a:rPr>
                        <a:t>Normal B cells, GPL570 Affy; largest NP → slowest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1A"/>
                          </a:solidFill>
                        </a:rPr>
                        <a:t>ANTE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1A"/>
                          </a:solidFill>
                        </a:rPr>
                        <a:t>202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1A"/>
                          </a:solidFill>
                        </a:rPr>
                        <a:t>Affymetrix reference; large gene panel (36k genes)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1A"/>
                          </a:solidFill>
                        </a:rPr>
                        <a:t>NBlegacy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1A"/>
                          </a:solidFill>
                        </a:rPr>
                        <a:t>733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1A"/>
                          </a:solidFill>
                        </a:rPr>
                        <a:t>Normal B cells, Normal_B_cells; BostonGene-curated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1A"/>
                          </a:solidFill>
                        </a:rPr>
                        <a:t>NBext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1A"/>
                          </a:solidFill>
                        </a:rPr>
                        <a:t>878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1A"/>
                          </a:solidFill>
                        </a:rPr>
                        <a:t>Normal B cells, extended; broadest B-cell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1A"/>
                          </a:solidFill>
                        </a:rPr>
                        <a:t>Oncobox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1A"/>
                          </a:solidFill>
                        </a:rPr>
                        <a:t>779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1A"/>
                          </a:solidFill>
                        </a:rPr>
                        <a:t>Cancer reference; oncology-biased anchor (exploratory)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1A"/>
                          </a:solidFill>
                        </a:rPr>
                        <a:t>GTExAffy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1A"/>
                          </a:solidFill>
                        </a:rPr>
                        <a:t>651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1A"/>
                          </a:solidFill>
                        </a:rPr>
                        <a:t>GTEx Affymetrix; tissue-diverse; strict run failed (gene ID mismatch)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477280"/>
            <a:ext cx="5797296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</a:rPr>
              <a:t>Q datasets (2 variants)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4737280"/>
          <a:ext cx="11594591" cy="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1351"/>
                <a:gridCol w="1159459"/>
                <a:gridCol w="1159459"/>
                <a:gridCol w="7884322"/>
              </a:tblGrid>
              <a:tr h="22666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Samples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Genes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</a:tr>
              <a:tr h="22666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Q0std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11,887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Original paper reference (GTEx RNA-seq); ~31–69% gene loss with strict FL 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666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QNBKass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141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11,768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Normal B cells, Kassandra; PERFECT gene overlap → 3,447 genes retained, zero gene loss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5547280"/>
            <a:ext cx="11594592" cy="380000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593000"/>
            <a:ext cx="11411712" cy="28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37C00"/>
                </a:solidFill>
              </a:rPr>
              <a:t>Key: Q0std causes 31–69% gene loss (different gene set from FL panel). QNBKass shares the exact gene set → zero gene loss when paired with any P dataset.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48872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1731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Speed-Up Motivation: Why Another Layer Was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59459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Even with 30 parallel Octave workers, per-run times were prohibitive: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447280"/>
          <a:ext cx="11594591" cy="8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37836"/>
                <a:gridCol w="2898648"/>
                <a:gridCol w="4058107"/>
              </a:tblGrid>
              <a:tr h="212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Imputation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Estimated time / Shambhala run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</a:tr>
              <a:tr h="212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P0std (NP=39)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strict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~1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2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Large P (ANTE, GTExAffy, NBext, NBGPL570)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strict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6–8 h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</a:tr>
              <a:tr h="212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Large 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knn or softimpute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2–3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2397280"/>
            <a:ext cx="11594592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• KNN and softimpute produce more surviving genes (fewer dropped due to NAs) → larger input matrix → more QN and CuBlock work per sample</a:t>
            </a:r>
          </a:p>
          <a:p>
            <a:pPr algn="l"/>
            <a:r>
              <a:rPr sz="1200" b="0">
                <a:solidFill>
                  <a:srgbClr val="C0392B"/>
                </a:solidFill>
              </a:rPr>
              <a:t>• Total benchmark cost without speed-up: 54 jobs × average ~12 h = ~27 days of compute on a single pod</a:t>
            </a:r>
          </a:p>
          <a:p>
            <a:pPr algn="l"/>
            <a:r>
              <a:rPr sz="1200" b="0">
                <a:solidFill>
                  <a:srgbClr val="1E7A46"/>
                </a:solidFill>
              </a:rPr>
              <a:t>• Goal: reduce per-run time by caching computations that are identical across all N worker batches within one job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47280"/>
            <a:ext cx="1159459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</a:rPr>
              <a:t>Two bottlenecks identified: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047280"/>
            <a:ext cx="11594592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• Bottleneck 1 — Quantile Normalization on P: each of 30 workers re-sorts the same P matrix (NP=250 for NBGPL570) independently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• Bottleneck 2 — k-means in CuBlock: 30 stochastic k-means runs per sample × N_samples per worker, with P-matrix-dependent complexity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997280"/>
            <a:ext cx="11594592" cy="350000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043000"/>
            <a:ext cx="11411712" cy="25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7A46"/>
                </a:solidFill>
              </a:rPr>
              <a:t>Strategy: pre-compute QN reference and k-means clusters once before launching workers, then inject the cached results into every Octave subprocess.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48872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1731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Speed-Up Approaches: 9 Combinations Tested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594592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All approaches pre-compute or approximate something Octave otherwise recomputes per sample. Trade-off: speed vs. fidelity to the original algorithm.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407280"/>
          <a:ext cx="1159459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0810"/>
                <a:gridCol w="5333512"/>
                <a:gridCol w="1855134"/>
                <a:gridCol w="1855134"/>
              </a:tblGrid>
              <a:tr h="31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Combo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Speedup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Distortion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</a:tr>
              <a:tr h="310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Exact Octave; no caching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1.0×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A — Python QN ref.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Pre-compute QN sort order from P once; inject into every worker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~1.0×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0.98%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</a:tr>
              <a:tr h="310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C_40 — P subsampling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Replace P with 40 centroids if NP&gt;40; no effect at NP=39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~1.0× at NP=39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C_20 — P subsampling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Same as C_40 but more aggressive (20 centroids)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~1.6×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2.45%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</a:tr>
              <a:tr h="310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 — pre-run k-means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Run k-means on P genes once in Python; pass labels to Octave (skips 30 random inits)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~10.6×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A_D — QN + synthetic P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Replace P matrix with 1 synthetic centroid; eliminates large-P overhead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~5.3×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14.67%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</a:tr>
              <a:tr h="310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★ A_E — QN + k-means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Pre-compute BOTH: QN reference (A) + k-means labels (E)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~8.6×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A_D_E — all flags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A + D + E combined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~16.8×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9.00%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</a:tr>
              <a:tr h="310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G — Python CuBlock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Replace entire Octave CuBlock with pure Python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XFAIL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4617280"/>
            <a:ext cx="11594592" cy="46000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663000"/>
            <a:ext cx="11411712" cy="36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0392B"/>
                </a:solidFill>
              </a:rPr>
              <a:t>G fails (deadlock): Python PCG64 and Octave Mersenne Twister produce different k-means clusters from same seed → 226% distortion. Additionally, returning a large NumPy array from subprocess via ProcessPoolExecutor shared queue causes a permanent QueueFeederThread hang.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197280"/>
            <a:ext cx="11594592" cy="350000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243000"/>
            <a:ext cx="11411712" cy="25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7A46"/>
                </a:solidFill>
              </a:rPr>
              <a:t>★ A_E selected: 8.6× speedup with only 1.39% mean relative distortion. No structural algorithm change — only caches two pre-computable results.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48872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1731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A_E Approved Approach: How Each Flag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594592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DA4"/>
                </a:solidFill>
              </a:rPr>
              <a:t>A_E = --precompute-qn-reference  +  --precompute-cublock-clusters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07280"/>
            <a:ext cx="11594592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</a:rPr>
              <a:t>Flag A — pre-compute QN reference in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5760" y="1697280"/>
            <a:ext cx="11394592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</a:rPr>
              <a:t>• What: sort each gene in P by expression value; record rank-to-value mapping. Inject pre-computed lookup table into every Octave subprocess (no re-sorting of P)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• Why it helps: QN on large P matrix (NP=250 for NBGPL570) is the single biggest bottleneck. Without caching, each of 30 workers recomputes the same sort on the same P data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• Risk: Python qnorm library and Octave's QN agree to within 0.98% on continuous data (Bolstad 2003 method). For integer/tie-heavy data implementations may diverge slightly — stays below 1% in FL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97280"/>
            <a:ext cx="11594592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</a:rPr>
              <a:t>Flag E — pre-compute k-means clusters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5760" y="3297280"/>
            <a:ext cx="11394592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</a:rPr>
              <a:t>• What: run k-means on P gene matrix once in Python with a fixed random seed; produce k=5 cluster labels. Pass labels to Octave via --eval — Octave skips its own k-means initialization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• Why it helps: CuBlock's inner loop runs k-means 30 times per sample (averaging over random initializations). Pre-computing removes all 30 × N_samples random k-means calls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• Why 1.39% distortion is acceptable: CuBlock already averages 30 stochastic runs to smooth out randomness. The single Python k-means pass uses a slightly different PRNG than Octave — deviation (1.39%) is comparable to natural run-to-run variability of the baseline itself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647280"/>
            <a:ext cx="11594592" cy="380000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693000"/>
            <a:ext cx="11411712" cy="28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7A46"/>
                </a:solidFill>
              </a:rPr>
              <a:t>Both flags cache only external inputs (P matrix computations). The per-sample harmonization logic inside Octave/CuBlock is fully preserved.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48872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1731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A_E Performance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797296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</a:rPr>
              <a:t>Lab test (10-sample fixture, 8,174 genes, P0std NP=39):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407280"/>
          <a:ext cx="5697294" cy="8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3783"/>
                <a:gridCol w="1538269"/>
                <a:gridCol w="1595242"/>
              </a:tblGrid>
              <a:tr h="212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Baseline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A_E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</a:tr>
              <a:tr h="212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Wall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~48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~5.6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2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Speedup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1.0×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8.6×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</a:tr>
              <a:tr h="212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Mean relative distortion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1.39%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63056" y="1097280"/>
            <a:ext cx="5697296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</a:rPr>
              <a:t>Real-world K8s pod (S0, ~5,444 samples):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63056" y="1407280"/>
          <a:ext cx="5697295" cy="1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864"/>
                <a:gridCol w="1994053"/>
                <a:gridCol w="1310378"/>
              </a:tblGrid>
              <a:tr h="2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Variant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Timestamp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Interval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ANTE × Q0std (knn)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2026-05-22 16:01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NBGPL570 × Q0std (knn)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2026-05-22 16:42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41 min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NBKass × Q0std (knn)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2026-05-22 17:22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40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NBRNAseq × Q0std (knn)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2026-05-22 18:03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41 min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65760" y="2547280"/>
            <a:ext cx="11594592" cy="280000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93000"/>
            <a:ext cx="11411712" cy="18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7A46"/>
                </a:solidFill>
              </a:rPr>
              <a:t>~40 minutes per run for ALL P/Q variants including the largest (NBGPL570, NP=250).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67280"/>
            <a:ext cx="1159459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</a:rPr>
              <a:t>Before vs. after A_E deployment: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267280"/>
          <a:ext cx="11594590" cy="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37836"/>
                <a:gridCol w="2318918"/>
                <a:gridCol w="2318918"/>
                <a:gridCol w="2318918"/>
              </a:tblGrid>
              <a:tr h="23333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Before A_E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After A_E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Gain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</a:tr>
              <a:tr h="23333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Files per 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~53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~517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~10×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33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Large-P run time (estimated)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~4–6 h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~40 min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~6–9×</a:t>
                      </a:r>
                    </a:p>
                  </a:txBody>
                  <a:tcPr>
                    <a:solidFill>
                      <a:srgbClr val="F7F9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65760" y="4147280"/>
            <a:ext cx="11594592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</a:rPr>
              <a:t>• Distortion metric: mean relative difference across all genes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• Values reach ~100,000 in Q-rescaled scale; max absolute difference dominated by outlier genes → not a useful metric</a:t>
            </a:r>
          </a:p>
          <a:p>
            <a:pPr algn="l"/>
            <a:r>
              <a:rPr sz="1100" b="0">
                <a:solidFill>
                  <a:srgbClr val="1E7A46"/>
                </a:solidFill>
              </a:rPr>
              <a:t>• Mean relative difference of 1.39% is within natural run-to-run variability of the stochastic baseline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48872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1731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Metrics Implemented: What Is Measured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594592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11 metric groups computed per harmonized expression file. Three new/extended groups this period: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07280"/>
            <a:ext cx="11594592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6DA4"/>
                </a:solidFill>
              </a:rPr>
              <a:t>Group J — PC variance distribution  (new)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5760" y="1677280"/>
            <a:ext cx="11444592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</a:rPr>
              <a:t>• pct_var_pc1 through pct_var_pc10 and pct_var_cum_top10: % variance explained per PC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• Purpose: track batch effect removal. Before FSQN: PC1 ≈ 95%. After good normalization: PC1 drops to single-digit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47280"/>
            <a:ext cx="11594592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6DA4"/>
                </a:solidFill>
              </a:rPr>
              <a:t>Group K — NA retention statistics  (new)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5760" y="2517280"/>
            <a:ext cx="11444592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</a:rPr>
              <a:t>• pct_genes_noNA, pct_samples_noNA, n_na_cells, pct_na_cells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• Purpose: detect methods that silently drop genes or samples (e.g. strict imputation removes all genes with any NA)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097280"/>
            <a:ext cx="11594592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6DA4"/>
                </a:solidFill>
              </a:rPr>
              <a:t>Group I — WaterMelon score  (extended)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760" y="3367280"/>
            <a:ext cx="11444592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</a:rPr>
              <a:t>• wm_mean_batch: entropy-based clustering quality — LOW = same-batch samples NOT clustered together = good batch removal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• wm_mean_bio: HIGH = same-diagnosis samples DO cluster together = biology preserved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• wm_ratio_bio_batch: single composite score to rank methods (Zolotovskaya et al. 2020)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227280"/>
            <a:ext cx="11594592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</a:rPr>
              <a:t>Previously implemented (groups A–H):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5760" y="4497280"/>
            <a:ext cx="11444592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</a:rPr>
              <a:t>• PCA R², kBET, iLISI, cLISI, ASW (batch + biology), UMAP/tSNE centroid dispersion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• Pairwise KS tests, variancePartition mixed-model decomposition, kNN graph connectivity, intra/inter-group distance ratios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48872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1731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Benchmark Progress: Expression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594592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1A1A"/>
                </a:solidFill>
              </a:rPr>
              <a:t>S3 bucket: $FL_S3_BUCKET/FL_batch_correction/exp/   |   Log date: 2026-05-26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07280"/>
            <a:ext cx="11594592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</a:rPr>
              <a:t>Shambhala harmonizations: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7280"/>
            <a:ext cx="11594592" cy="70000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8720"/>
            <a:ext cx="11411712" cy="517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Courier New"/>
              </a:rPr>
              <a:t>████████████████████████████████████████████████████████████████  100%</a:t>
            </a:r>
          </a:p>
          <a:p>
            <a:r>
              <a:rPr sz="1100">
                <a:solidFill>
                  <a:srgbClr val="1A1A1A"/>
                </a:solidFill>
                <a:latin typeface="Courier New"/>
              </a:rPr>
              <a:t>1,297 / 1,296 expected</a:t>
            </a:r>
          </a:p>
          <a:p>
            <a:r>
              <a:rPr sz="1100">
                <a:solidFill>
                  <a:srgbClr val="1A1A1A"/>
                </a:solidFill>
                <a:latin typeface="Courier New"/>
              </a:rPr>
              <a:t>18 P/Q variants × 3 imputations × 12 strategies × 2 post_rm variants</a:t>
            </a:r>
          </a:p>
          <a:p>
            <a:r>
              <a:rPr sz="1100">
                <a:solidFill>
                  <a:srgbClr val="1A1A1A"/>
                </a:solidFill>
                <a:latin typeface="Courier New"/>
              </a:rPr>
              <a:t>(One extra file is an exploratory speed-up test.)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27280"/>
            <a:ext cx="11594592" cy="280000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73000"/>
            <a:ext cx="11411712" cy="18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7A46"/>
                </a:solidFill>
              </a:rPr>
              <a:t>All 1,296 Shambhala harmonizations complete.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37280"/>
            <a:ext cx="11594592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</a:rPr>
              <a:t>All-methods expression files on S3 (Shambhala + all other 39 methods):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27280"/>
            <a:ext cx="11594592" cy="55000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318720"/>
            <a:ext cx="11411712" cy="367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Courier New"/>
              </a:rPr>
              <a:t>████████████████████████████████████████████████████████░░░░░░░░  75%</a:t>
            </a:r>
          </a:p>
          <a:p>
            <a:r>
              <a:rPr sz="1100">
                <a:solidFill>
                  <a:srgbClr val="1A1A1A"/>
                </a:solidFill>
                <a:latin typeface="Courier New"/>
              </a:rPr>
              <a:t>3,282 total  (Shambhala: 1,297  |  Other methods: 1,985)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897280"/>
            <a:ext cx="11594592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</a:rPr>
              <a:t>• 12 strategies covered: S0 (all samples), A–I batch exclusion variants, C RNA-seq only, D malignant only, F–H platform subsets, I rare-batch removal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• 39 normalization methods × 11 strategies × 4 imputation × 2 post_rm = 3,432 S3 outputs (target)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48872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1731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Benchmark Progress: Metrics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594592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1A1A"/>
                </a:solidFill>
              </a:rPr>
              <a:t>S3 bucket: $FL_S3_BUCKET/FL_batch_correction/metrics/   |   Log date: 2026-05-26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07280"/>
            <a:ext cx="11594592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</a:rPr>
              <a:t>Shambhala metrics calculated: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7280"/>
            <a:ext cx="11594592" cy="60000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8720"/>
            <a:ext cx="11411712" cy="417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Courier New"/>
              </a:rPr>
              <a:t>████████████████████████████████░░░░░░░░░░░░░░░░░░░░░░░░░░░░░░  45%</a:t>
            </a:r>
          </a:p>
          <a:p>
            <a:r>
              <a:rPr sz="1100">
                <a:solidFill>
                  <a:srgbClr val="1A1A1A"/>
                </a:solidFill>
                <a:latin typeface="Courier New"/>
              </a:rPr>
              <a:t>579 / 1,296 expected</a:t>
            </a:r>
          </a:p>
          <a:p>
            <a:r>
              <a:rPr sz="1100">
                <a:solidFill>
                  <a:srgbClr val="1A1A1A"/>
                </a:solidFill>
                <a:latin typeface="Courier New"/>
              </a:rPr>
              <a:t>Started 2026-05-24 on fl-metrics pod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27280"/>
            <a:ext cx="11594592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</a:rPr>
              <a:t>All-methods metrics on S3: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17280"/>
            <a:ext cx="11594592" cy="52000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808720"/>
            <a:ext cx="11411712" cy="337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1A"/>
                </a:solidFill>
                <a:latin typeface="Courier New"/>
              </a:rPr>
              <a:t>████████████████████████████████████████████████████░░░░░░░░░░░░  66%</a:t>
            </a:r>
          </a:p>
          <a:p>
            <a:r>
              <a:rPr sz="1100">
                <a:solidFill>
                  <a:srgbClr val="1A1A1A"/>
                </a:solidFill>
                <a:latin typeface="Courier New"/>
              </a:rPr>
              <a:t>2,401 total  (Shambhala: 579  |  Other methods: 1,822)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397280"/>
            <a:ext cx="11594592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• Metrics date range for Shambhala: 2026-05-24 15:40 → 2026-05-26 13:05</a:t>
            </a:r>
          </a:p>
          <a:p>
            <a:pPr algn="l"/>
            <a:r>
              <a:rPr sz="1200" b="0">
                <a:solidFill>
                  <a:srgbClr val="1E7A46"/>
                </a:solidFill>
              </a:rPr>
              <a:t>• Completed Shambhala metrics strategies: A, B, C, D, E1, E2, E3, S0 ✓</a:t>
            </a:r>
          </a:p>
          <a:p>
            <a:pPr algn="l"/>
            <a:r>
              <a:rPr sz="1200" b="0">
                <a:solidFill>
                  <a:srgbClr val="D37C00"/>
                </a:solidFill>
              </a:rPr>
              <a:t>• In progress: F, G, H, I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• Expected completion: ~2026-05-28 (2 more days from log date)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427280"/>
            <a:ext cx="11594592" cy="460000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473000"/>
            <a:ext cx="11411712" cy="36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37C00"/>
                </a:solidFill>
              </a:rPr>
              <a:t>Once metrics complete: aggregate into shambhala_metrics.csv  →  load into harmonization_metrics_analysis.ipynb  →  rank all 18 P/Q variants by batch metrics and select best for downstream SOM analysis.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48872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1731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594592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7A46"/>
                </a:solidFill>
              </a:rPr>
              <a:t>Built and deployed: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17280"/>
            <a:ext cx="11594592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• Pure-Python Shambhala pipeline — no R, no rpy2, no intermediate files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• 30-worker parallelization (shambhala-workers): 9 h → 1–2 h for P0std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• A_E speed-up approved: 8.6× lab / ~10× real-world throughput gain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• 1,296 Shambhala expression harmonizations — 100% complete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27280"/>
            <a:ext cx="11594592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37C00"/>
                </a:solidFill>
              </a:rPr>
              <a:t>Running now: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47280"/>
            <a:ext cx="11594592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• Metrics: 579/1,296 Shambhala files done (~45%); projected completion ~2026-05-28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• Once complete → aggregate into shambhala_metrics.csv → load into harmonization_metrics_analysis.ipynb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497280"/>
            <a:ext cx="11594592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</a:rPr>
              <a:t>Open questions: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817280"/>
            <a:ext cx="11594592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• Which P/Q combination performs best by batch metrics? (answer pending metrics completion)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• Should Shambhala runs be restricted to RNA-seq only (same decision as for SOM pipeline)?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• Is the normal B cell Q reference (QNBKass) biologically more appropriate for FL cohorts than GTEx (Q0std)?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• Are B-cell-specific P/Q references (NBlegacy, NBext, &gt;700 samples) at risk of over-calibrating toward normal B-cell baseline and compressing tumor subtype signal?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48872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1731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Planned Work —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594592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6DA4"/>
                </a:solidFill>
              </a:rPr>
              <a:t>• 1. Presentation on Shambhala and its adaptation — document normalization runs before/after speed-up; present quantitative throughput improvement and parallelization approach.  (This presentation.)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• 2. Comparison of test dataset before and after speed-up — show output expression values do not change materially (1.39% mean relative diff); explain what was accelerated.</a:t>
            </a:r>
          </a:p>
          <a:p>
            <a:pPr algn="l"/>
            <a:r>
              <a:rPr sz="1200" b="0">
                <a:solidFill>
                  <a:srgbClr val="1E7A46"/>
                </a:solidFill>
              </a:rPr>
              <a:t>• 3. Verify completeness of harmonizations; estimate per-run time per Shambhala variant via AWS S3 file listing timestamps.  (Done — Slides 10 and 12–13.)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• 4. Select best Shambhala attempt from those available by Wednesday evening — once metrics complete, rank all 18 P/Q variants and pick top performer for downstream SOM analysis.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• 5. Continue trend analysis — extend harmonization_metrics_analysis.ipynb with Shambhala results; compare with the 39-method benchmark.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• 6. Propose a decision tree — document normalization choice logic (platform, imputation, post-removal) as a practical decision tree for the manuscript.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• 7. Start writing the article — begin drafting the harmonization benchmark methods and results section.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047280"/>
            <a:ext cx="11594592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Generated: 2026-05-28  |  Pipeline: shambhala_adoption/Shambhala_containerized/  |  Pod: fl-shambhala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