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jgnVlBTp7CWdjVY5uhmgRvpFYD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1" name="Daniil Nikit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330EC9-C1FF-4F20-87E2-F85179F3C288}">
  <a:tblStyle styleId="{7F330EC9-C1FF-4F20-87E2-F85179F3C2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customschemas.google.com/relationships/presentationmetadata" Target="metadata"/><Relationship Id="rId50" Type="http://schemas.openxmlformats.org/officeDocument/2006/relationships/slide" Target="slides/slide4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8T13:21:24.898">
    <p:pos x="78" y="3108"/>
    <p:text>Так мало генов остается потому что в инпуте должна была была быть таблица с NA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G0TpYs"/>
      </p:ext>
    </p:extLst>
  </p:cm>
  <p:cm authorId="0" idx="2" dt="2026-05-28T13:21:24.898">
    <p:pos x="78" y="3108"/>
    <p:text>@author@example.com надо диаграммы венна построить между моим датасетом и калибровочными, проверить не пропадают ли гены из-за NA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8G0TpYw"/>
      </p:ext>
    </p:extLst>
  </p:cm>
  <p:cm authorId="0" idx="3" dt="2026-05-28T14:33:35.138">
    <p:pos x="78" y="3208"/>
    <p:text>Сделать NBext - третьим вариантом Q датасета в моей имплементации шамбалы.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P6AH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5-28T13:30:37.513">
    <p:pos x="86" y="886"/>
    <p:text>Возможно ИИшка плохо написала код, питонизация кублока это перспетивно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P6AHz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5-28T13:39:10.319">
    <p:pos x="2115" y="539"/>
    <p:text>Двойная гармонизация плохо работает - в старой шамбале XPN нельзя было прогонять дважды. Надо будет переделать когорту Арсена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P6AHz4"/>
      </p:ext>
    </p:extLst>
  </p:cm>
  <p:cm authorId="0" idx="6" dt="2026-05-28T13:39:10.319">
    <p:pos x="2115" y="539"/>
    <p:text>Батчи сильнее биологии потому что биология слабо различается - DLBCL похожа на FL. Если бы я взял сильно разную биологию, было бы лучше.</p:text>
    <p:extLst>
      <p:ext uri="{C676402C-5697-4E1C-873F-D02D1690AC5C}">
        <p15:threadingInfo timeZoneBias="0">
          <p15:parentCm authorId="0" idx="5"/>
        </p15:threadingInfo>
      </p:ext>
      <p:ext uri="http://customooxmlschemas.google.com/">
        <go:slidesCustomData xmlns:go="http://customooxmlschemas.google.com/" commentPostId="AAAB8P6AHz8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5-26T19:40:09.539">
    <p:pos x="230" y="2049"/>
    <p:text>@author@example.com add a picture explaining watermelon score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CiRYHo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5-28T14:28:20.540">
    <p:pos x="0" y="666"/>
    <p:text>Три теста: обучиться на большей части датасета и предсказать на меньшем - и сделать кросс-валидацию.
И посчитать процент угадываний. 
Глобальный метод - брать SVM как в статье 23 года. 
Случайно брать пару когорт из моего общего датасета - и обучаться на большем, предсказывать на меньшем. 
А потом еще сделать пермутацию меток классов - и насколько предсказание реальных классов отличается от предсказаний случайно перемешанных.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P6AH0M"/>
      </p:ext>
    </p:extLst>
  </p:cm>
  <p:cm authorId="0" idx="9" dt="2026-05-28T14:07:14.163">
    <p:pos x="0" y="666"/>
    <p:text>Достаточно KNN и SVM, можно попытаться с DNN, на pytorch или tensorflow.</p:text>
    <p:extLst>
      <p:ext uri="{C676402C-5697-4E1C-873F-D02D1690AC5C}">
        <p15:threadingInfo timeZoneBias="0">
          <p15:parentCm authorId="0" idx="8"/>
        </p15:threadingInfo>
      </p:ext>
      <p:ext uri="http://customooxmlschemas.google.com/">
        <go:slidesCustomData xmlns:go="http://customooxmlschemas.google.com/" commentPostId="AAAB8P6AH0Q"/>
      </p:ext>
    </p:extLst>
  </p:cm>
  <p:cm authorId="0" idx="10" dt="2026-05-28T14:28:20.540">
    <p:pos x="0" y="666"/>
    <p:text>взять трансферное обучение как описано в статье от Николая 2023 года</p:text>
    <p:extLst>
      <p:ext uri="{C676402C-5697-4E1C-873F-D02D1690AC5C}">
        <p15:threadingInfo timeZoneBias="0">
          <p15:parentCm authorId="0" idx="8"/>
        </p15:threadingInfo>
      </p:ext>
      <p:ext uri="http://customooxmlschemas.google.com/">
        <go:slidesCustomData xmlns:go="http://customooxmlschemas.google.com/" commentPostId="AAAB8P6AH0w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5-28T14:14:15.128">
    <p:pos x="256" y="633"/>
    <p:text>Q и P нельзя делать сильно разными. Правильно - чтобы и P и Q у меня были широкие по биологии, либо оба узкие и одинаковой биологии.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P6AH0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4c7dfdd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4c7dfdd2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4c7dfdd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4c7dfdd20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4c7dfdd2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4c7dfdd20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4c7dfdd2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4c7dfdd2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4c7dfdd2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4c7dfdd20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4c7dfdd2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4c7dfdd20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4c7dfdd2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4c7dfdd20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4c7dfdd2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4c7dfdd20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4c7dfdd2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e4c7dfdd20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4c7dfdd2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4c7dfdd20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d06a745b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ed06a745b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d06a745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ed06a745bb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d06a745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ed06a745b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d06a745b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ed06a745b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d06a745b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ed06a745bb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d06a745b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ed06a745bb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d06a745b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d06a745bb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d06a745b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d06a745b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ed06a745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ed06a745b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d06a745b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ed06a745bb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ed06a745b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ed06a745bb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d06a745b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d06a745bb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d06a745b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ed06a745bb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53211a5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e53211a51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53211a51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e53211a51c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d06a745b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ed06a745bb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53211a51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e53211a51c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Relationship Id="rId4" Type="http://schemas.openxmlformats.org/officeDocument/2006/relationships/image" Target="../media/image6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11" Type="http://schemas.openxmlformats.org/officeDocument/2006/relationships/image" Target="../media/image22.png"/><Relationship Id="rId10" Type="http://schemas.openxmlformats.org/officeDocument/2006/relationships/image" Target="../media/image18.png"/><Relationship Id="rId9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5.xml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6.xml"/><Relationship Id="rId4" Type="http://schemas.openxmlformats.org/officeDocument/2006/relationships/hyperlink" Target="https://docs.google.com/presentation/d/1K0KIogCVJeQi8KiudEvC7Hw4h8j0eCgm0jy4yDKVDks/edit?slide=id.g3e0bf8deabd_0_762#slide=id.g3e0bf8deabd_0_762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google.com/presentation/d/1K0KIogCVJeQi8KiudEvC7Hw4h8j0eCgm0jy4yDKVDks/edit?slide=id.g3e0bf8deabd_0_762#slide=id.g3e0bf8deabd_0_762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presentation/d/1K0KIogCVJeQi8KiudEvC7Hw4h8j0eCgm0jy4yDKVDks/edit?slide=id.g3e0bf8deabd_0_762#slide=id.g3e0bf8deabd_0_762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s.google.com/presentation/d/1a9MnFqC4cqVLSHefQfmWO66xASsbZpsG/edit?pli=1&amp;disco=AAAB8P6AH0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371600"/>
            <a:ext cx="10698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 Project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Update: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Shambhala Harmonization</a:t>
            </a:r>
            <a:endParaRPr sz="2200"/>
          </a:p>
        </p:txBody>
      </p:sp>
      <p:sp>
        <p:nvSpPr>
          <p:cNvPr id="87" name="Google Shape;87;p1"/>
          <p:cNvSpPr txBox="1"/>
          <p:nvPr/>
        </p:nvSpPr>
        <p:spPr>
          <a:xfrm>
            <a:off x="731395" y="2756995"/>
            <a:ext cx="1069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Containerization · Parallelization · Speed-up · Full Benchmark Run (1,296 harmonizations)</a:t>
            </a:r>
            <a:endParaRPr sz="2200"/>
          </a:p>
        </p:txBody>
      </p:sp>
      <p:sp>
        <p:nvSpPr>
          <p:cNvPr id="88" name="Google Shape;88;p1"/>
          <p:cNvSpPr txBox="1"/>
          <p:nvPr/>
        </p:nvSpPr>
        <p:spPr>
          <a:xfrm>
            <a:off x="782250" y="3919785"/>
            <a:ext cx="9418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Pure-Python rewrite (no R / rpy2)  ·  30-worker parallelization  ·  A_E speed-up: 8.6× lab / ~10× real-world  ·  Metrics pipeline ~45% complete</a:t>
            </a:r>
            <a:endParaRPr sz="2200"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5303520"/>
            <a:ext cx="1069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9BBDD"/>
                </a:solidFill>
                <a:latin typeface="Calibri"/>
                <a:ea typeface="Calibri"/>
                <a:cs typeface="Calibri"/>
                <a:sym typeface="Calibri"/>
              </a:rPr>
              <a:t>Daniil Nikitin  ·  BostonGene  ·  2026-05-28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Overview: Two Weeks of Work with Shambhala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75900" y="1097275"/>
            <a:ext cx="1178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Three workstreams completed:</a:t>
            </a:r>
            <a:endParaRPr sz="2600"/>
          </a:p>
        </p:txBody>
      </p:sp>
      <p:sp>
        <p:nvSpPr>
          <p:cNvPr id="98" name="Google Shape;98;p2"/>
          <p:cNvSpPr txBox="1"/>
          <p:nvPr/>
        </p:nvSpPr>
        <p:spPr>
          <a:xfrm>
            <a:off x="175900" y="1806221"/>
            <a:ext cx="117846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• Shambhala containerization — pure-Python rewrite, no R, no rpy2</a:t>
            </a:r>
            <a:endParaRPr sz="2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• Parallelization &amp; speed-up research — 9 combinations tested; Precompute QN and CuBlock k-means clusters approved and deployed (approach A_E)</a:t>
            </a:r>
            <a:endParaRPr sz="2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• Full benchmark run — 1,296 harmonizations completed; metrics calculation ~45% done</a:t>
            </a:r>
            <a:endParaRPr sz="2900"/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270910" y="4300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5217575"/>
                <a:gridCol w="6377025"/>
              </a:tblGrid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Status as of May 26th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Expression files harmonized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1,296 / 1,296  (100% ✓)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Metrics calculated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579 / 1,296  (~45%)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Speed-up gain (A_E)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~8.6× lab  /  ~10× real-world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Test suite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1A1A1A"/>
                          </a:solidFill>
                        </a:rPr>
                        <a:t>69 tests pass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Pipeline: long, inefficient, many temporary files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365751" y="1097269"/>
            <a:ext cx="10956300" cy="19713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457200" y="1188720"/>
            <a:ext cx="11411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R wrapper (Shambhala2.R)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writes P_prim.txt to disk     — merged [Input + P] matrix for QN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writes args.txt to disk       — 3 integers: NH, NP, k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spawns Octave subprocess      — Octave reads P_prim.txt and args.txt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Octave writes Cu_bis.txt      — CuBlock-normalized output matrix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R reads Cu_bis.txt            — applies Q-rescaling</a:t>
            </a:r>
            <a:endParaRPr sz="2300"/>
          </a:p>
        </p:txBody>
      </p:sp>
      <p:sp>
        <p:nvSpPr>
          <p:cNvPr id="109" name="Google Shape;109;p3"/>
          <p:cNvSpPr txBox="1"/>
          <p:nvPr/>
        </p:nvSpPr>
        <p:spPr>
          <a:xfrm>
            <a:off x="297135" y="3305218"/>
            <a:ext cx="115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Why each intermediate file exists:</a:t>
            </a:r>
            <a:endParaRPr sz="1800"/>
          </a:p>
        </p:txBody>
      </p:sp>
      <p:sp>
        <p:nvSpPr>
          <p:cNvPr id="110" name="Google Shape;110;p3"/>
          <p:cNvSpPr txBox="1"/>
          <p:nvPr/>
        </p:nvSpPr>
        <p:spPr>
          <a:xfrm>
            <a:off x="228610" y="3622468"/>
            <a:ext cx="11594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P_prim.txt — merged [Input + P] matrix; QN operates on the combined set so all samples share the same rank map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args.txt — Octave cannot receive Python/R variables directly; integers (NH, NP, k) passed as plain text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Cu_bis.txt — Octave cannot return data to R; CuBlock output written to disk for R to read back</a:t>
            </a:r>
            <a:endParaRPr sz="1800"/>
          </a:p>
        </p:txBody>
      </p:sp>
      <p:sp>
        <p:nvSpPr>
          <p:cNvPr id="111" name="Google Shape;111;p3"/>
          <p:cNvSpPr txBox="1"/>
          <p:nvPr/>
        </p:nvSpPr>
        <p:spPr>
          <a:xfrm>
            <a:off x="152785" y="4421205"/>
            <a:ext cx="115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Problems:</a:t>
            </a:r>
            <a:endParaRPr sz="1800"/>
          </a:p>
        </p:txBody>
      </p:sp>
      <p:sp>
        <p:nvSpPr>
          <p:cNvPr id="112" name="Google Shape;112;p3"/>
          <p:cNvSpPr txBox="1"/>
          <p:nvPr/>
        </p:nvSpPr>
        <p:spPr>
          <a:xfrm>
            <a:off x="152785" y="4721205"/>
            <a:ext cx="11594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Requires a full R installation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File collisions when running multiple jobs in parallel from the same directory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rpy2 version conflicts on newer Python</a:t>
            </a:r>
            <a:endParaRPr sz="1800"/>
          </a:p>
        </p:txBody>
      </p:sp>
      <p:sp>
        <p:nvSpPr>
          <p:cNvPr id="113" name="Google Shape;113;p3"/>
          <p:cNvSpPr/>
          <p:nvPr/>
        </p:nvSpPr>
        <p:spPr>
          <a:xfrm>
            <a:off x="144875" y="5699894"/>
            <a:ext cx="11899200" cy="831000"/>
          </a:xfrm>
          <a:prstGeom prst="rect">
            <a:avLst/>
          </a:prstGeom>
          <a:solidFill>
            <a:srgbClr val="FFF0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28600" y="5943300"/>
            <a:ext cx="1159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Solution: eliminate all three files — route data through process stdin/stdout streams instead.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Pipeline: Python + Octave via Stdin/Stdout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74250" y="1097275"/>
            <a:ext cx="11594700" cy="24249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" y="1188727"/>
            <a:ext cx="110916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Python (run_shambhala.py)</a:t>
            </a:r>
            <a:endParaRPr sz="2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gene intersection + NA handling (drop / KNN)</a:t>
            </a:r>
            <a:endParaRPr sz="2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format [batch + P] as TSV → pipe to Octave stdin</a:t>
            </a:r>
            <a:endParaRPr sz="2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Octave (Shambhala2_piped.m) reads /dev/stdin</a:t>
            </a:r>
            <a:endParaRPr sz="2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Octave writes normalized matrix to stdout</a:t>
            </a:r>
            <a:endParaRPr sz="2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→ Python parses stdout → Q-rescaling in NumPy/pandas</a:t>
            </a:r>
            <a:endParaRPr sz="2700"/>
          </a:p>
        </p:txBody>
      </p:sp>
      <p:sp>
        <p:nvSpPr>
          <p:cNvPr id="124" name="Google Shape;124;p4"/>
          <p:cNvSpPr txBox="1"/>
          <p:nvPr/>
        </p:nvSpPr>
        <p:spPr>
          <a:xfrm>
            <a:off x="78710" y="3541805"/>
            <a:ext cx="1159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Only 3 targeted changes to Shambhala2_piped.m:</a:t>
            </a:r>
            <a:endParaRPr sz="2000"/>
          </a:p>
        </p:txBody>
      </p:sp>
      <p:sp>
        <p:nvSpPr>
          <p:cNvPr id="125" name="Google Shape;125;p4"/>
          <p:cNvSpPr txBox="1"/>
          <p:nvPr/>
        </p:nvSpPr>
        <p:spPr>
          <a:xfrm>
            <a:off x="228610" y="3906930"/>
            <a:ext cx="1159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Remove args.txt reading — NH, NP, k injected via Octave --eval before script start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readExpressionData("P_prim.txt")  →  readExpressionData('/dev/stdin')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fopen / fprintf-to-file / fclose  →  fprintf(1, ...)  (stdout = file descriptor 1)</a:t>
            </a:r>
            <a:endParaRPr sz="2000"/>
          </a:p>
        </p:txBody>
      </p:sp>
      <p:sp>
        <p:nvSpPr>
          <p:cNvPr id="126" name="Google Shape;126;p4"/>
          <p:cNvSpPr/>
          <p:nvPr/>
        </p:nvSpPr>
        <p:spPr>
          <a:xfrm>
            <a:off x="78700" y="4982225"/>
            <a:ext cx="11977500" cy="8700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70200" y="5032475"/>
            <a:ext cx="1141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CuBlock.m is UNTOUCHED — the core algorithm is verbatim from the original. All changes are in the I/O layer only.</a:t>
            </a:r>
            <a:endParaRPr sz="2500"/>
          </a:p>
        </p:txBody>
      </p:sp>
      <p:sp>
        <p:nvSpPr>
          <p:cNvPr id="128" name="Google Shape;128;p4"/>
          <p:cNvSpPr txBox="1"/>
          <p:nvPr/>
        </p:nvSpPr>
        <p:spPr>
          <a:xfrm>
            <a:off x="78710" y="5852280"/>
            <a:ext cx="1159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ProcessPoolExecutor (not threads) — each worker is an independent system process with its own Octave subprocess → stdin/stdout pipes can never interfere with each other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All previous unit tests pass with the new piped implementation (30 tests)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Map: Shambhala_containerized/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228600" y="1174325"/>
            <a:ext cx="11827800" cy="41622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326700" y="1258800"/>
            <a:ext cx="114117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Shambhala_containerized/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run_shambhala.py           ← CLI entry point; orchestrates all steps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shambhala/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octave_bridge.py       ← sends TSV to Octave stdin; reads result from stdout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parallel.py            ← splits samples into worker batches; assembles results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progress_display.py    ← live progress bars in terminal; plain log in K8s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q_rescale.py           ← Q reference stats; gene-level mean/std alignment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na_handling.py         ← missing gene handling (drop or KNN-impute)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io_utils.py            ← reads/writes local files and S3 (.csv/.tsv/.tsv.gz)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octave/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Shambhala2_piped.m     ← 3 targeted edits (stdin/stdout)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CuBlock.m              ← VERBATIM — zero changes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*.m (3 files)          ← verbatim copies (QN, kmeans, readExpressionData)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harmonization_scripts/     ← cross-product benchmark (18 P/Q × 3 imp = 54 jobs)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└── tests/ (30 passing tests)</a:t>
            </a:r>
            <a:endParaRPr sz="2200"/>
          </a:p>
        </p:txBody>
      </p:sp>
      <p:sp>
        <p:nvSpPr>
          <p:cNvPr id="138" name="Google Shape;138;p5"/>
          <p:cNvSpPr txBox="1"/>
          <p:nvPr/>
        </p:nvSpPr>
        <p:spPr>
          <a:xfrm>
            <a:off x="235210" y="5529055"/>
            <a:ext cx="11594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progress_display.py: TTY mode = live ANSI progress bars; K8s mode = plain timestamped log lines (no interactive terminal in pod)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ProcessPoolExecutor (not threads): each worker is a separate OS process with its own Octave subprocess — stdin/stdout pipes are fully isolated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Tests: 30 unit tests (containerization) + 39 additional tests (speed-up fixtures) = 69 total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Parallelization: Shambhala-Workers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297135" y="1053018"/>
            <a:ext cx="1159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Before parallelization: Shambhala processes one sample at a time (sequential loop inside Octave)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Running full </a:t>
            </a:r>
            <a:r>
              <a:rPr lang="en-US" sz="1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7100</a:t>
            </a:r>
            <a:r>
              <a:rPr b="0" lang="en-US" sz="1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-sample FL dataset in a single Octave process: ~9 hours for P0std × Q0std</a:t>
            </a:r>
            <a:endParaRPr sz="2100"/>
          </a:p>
        </p:txBody>
      </p:sp>
      <p:sp>
        <p:nvSpPr>
          <p:cNvPr id="147" name="Google Shape;147;p6"/>
          <p:cNvSpPr txBox="1"/>
          <p:nvPr/>
        </p:nvSpPr>
        <p:spPr>
          <a:xfrm>
            <a:off x="365710" y="1712655"/>
            <a:ext cx="1159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Solution: --n-shambhala-workers splits samples into N batches:</a:t>
            </a:r>
            <a:endParaRPr sz="2100"/>
          </a:p>
        </p:txBody>
      </p:sp>
      <p:sp>
        <p:nvSpPr>
          <p:cNvPr id="148" name="Google Shape;148;p6"/>
          <p:cNvSpPr txBox="1"/>
          <p:nvPr/>
        </p:nvSpPr>
        <p:spPr>
          <a:xfrm>
            <a:off x="365760" y="2077280"/>
            <a:ext cx="1159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Input divided into N equal batches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Each batch sent to a separate Octave subprocess (independent process, own stdin/stdout pipe)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All batches run in parallel using ProcessPoolExecutor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Results assembled; Q-rescaling applied once on the merged output</a:t>
            </a:r>
            <a:endParaRPr sz="2100"/>
          </a:p>
        </p:txBody>
      </p:sp>
      <p:graphicFrame>
        <p:nvGraphicFramePr>
          <p:cNvPr id="149" name="Google Shape;149;p6"/>
          <p:cNvGraphicFramePr/>
          <p:nvPr/>
        </p:nvGraphicFramePr>
        <p:xfrm>
          <a:off x="255060" y="330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6377025"/>
                <a:gridCol w="5217575"/>
              </a:tblGrid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Time for P0std × Q0std, full dataset (strict: 7</a:t>
                      </a: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1</a:t>
                      </a: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00 samples x 3</a:t>
                      </a: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5</a:t>
                      </a: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00 genes)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A1A1A"/>
                          </a:solidFill>
                        </a:rPr>
                        <a:t>1 worker (sequential Octave)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A1A1A"/>
                          </a:solidFill>
                        </a:rPr>
                        <a:t>~9 hours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A1A1A"/>
                          </a:solidFill>
                        </a:rPr>
                        <a:t>30 workers (parallel batches, K8s pod 32 vCPU)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A1A1A"/>
                          </a:solidFill>
                        </a:rPr>
                        <a:t>~1–2 hours</a:t>
                      </a:r>
                      <a:endParaRPr sz="23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6"/>
          <p:cNvSpPr txBox="1"/>
          <p:nvPr/>
        </p:nvSpPr>
        <p:spPr>
          <a:xfrm>
            <a:off x="365710" y="4860255"/>
            <a:ext cx="1159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Remaining problem: large P variants (ANTE, GTExAffy, NBGPL570, NP=250) still took 6–8 h even with 30 workers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KNN and softimpute imputation (more genes after imputation) grew 4–5× further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Single large-P run under knn/softimpute: 2–3 days — full 54-job benchmark projected to take weeks</a:t>
            </a:r>
            <a:endParaRPr sz="2100"/>
          </a:p>
        </p:txBody>
      </p:sp>
      <p:sp>
        <p:nvSpPr>
          <p:cNvPr id="151" name="Google Shape;151;p6"/>
          <p:cNvSpPr/>
          <p:nvPr/>
        </p:nvSpPr>
        <p:spPr>
          <a:xfrm>
            <a:off x="136650" y="5914693"/>
            <a:ext cx="11823600" cy="849900"/>
          </a:xfrm>
          <a:prstGeom prst="rect">
            <a:avLst/>
          </a:prstGeom>
          <a:solidFill>
            <a:srgbClr val="FFF0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228600" y="5990100"/>
            <a:ext cx="1164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Root cause: QN and CuBlock both slow down when P is larger (NP=250 vs NP=39). Goal: cache computations identical across all N worker batches within one job.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P/Q Calibration Datasets: Zenodo and Normal B Cells Were Tested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24285" y="1045018"/>
            <a:ext cx="115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 input (S0, strict): 7,174 samples × 3,447 genes.  Shambhala needs P (QN calibration anchor) and Q (final rescaling target).</a:t>
            </a:r>
            <a:endParaRPr sz="1800"/>
          </a:p>
        </p:txBody>
      </p:sp>
      <p:sp>
        <p:nvSpPr>
          <p:cNvPr id="161" name="Google Shape;161;p7"/>
          <p:cNvSpPr txBox="1"/>
          <p:nvPr/>
        </p:nvSpPr>
        <p:spPr>
          <a:xfrm>
            <a:off x="228560" y="1338580"/>
            <a:ext cx="57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 datasets (9 variants)</a:t>
            </a:r>
            <a:endParaRPr sz="1800"/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228610" y="1641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1759775"/>
                <a:gridCol w="1173175"/>
                <a:gridCol w="8798850"/>
              </a:tblGrid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</a:rPr>
                        <a:t>Notes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P0std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39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Original Borisov 2021 / Zenodo; diverse tissues; standard benchmark reference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NBKass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141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Normal B cells, Kassandra; B-cell specific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NBRNAseq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317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Normal B cells, RNA-seq; platform match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NBGPL570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250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Normal B cells, GPL570 Affy; largest NP → slowest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ANTE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202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Affymetrix reference; large gene panel (36k genes)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NBlegacy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733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Normal B cells, Normal_B_cells; BostonGene-curated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NBext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878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Normal B cells, extended; broadest B-cell coverage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Oncobox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779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Cancer reference; oncology-biased anchor (exploratory)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GTExAffy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651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</a:rPr>
                        <a:t>GTEx Affymetrix; tissue-diverse; strict run failed (gene ID mismatch)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7"/>
          <p:cNvSpPr txBox="1"/>
          <p:nvPr/>
        </p:nvSpPr>
        <p:spPr>
          <a:xfrm>
            <a:off x="124347" y="4565055"/>
            <a:ext cx="57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Q datasets (2 variants)</a:t>
            </a:r>
            <a:endParaRPr sz="2000"/>
          </a:p>
        </p:txBody>
      </p:sp>
      <p:graphicFrame>
        <p:nvGraphicFramePr>
          <p:cNvPr id="164" name="Google Shape;164;p7"/>
          <p:cNvGraphicFramePr/>
          <p:nvPr/>
        </p:nvGraphicFramePr>
        <p:xfrm>
          <a:off x="124348" y="4934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1391350"/>
                <a:gridCol w="1159450"/>
                <a:gridCol w="1159450"/>
                <a:gridCol w="7884325"/>
              </a:tblGrid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Genes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Notes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Q0std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100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11,887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Original paper reference (GTEx RNA-seq); ~31–69% gene loss with strict FL input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>QNBKass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141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11,768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Normal B cells, Kassandra; PERFECT gene overlap → 3,447 genes retained, zero gene loss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7"/>
          <p:cNvSpPr/>
          <p:nvPr/>
        </p:nvSpPr>
        <p:spPr>
          <a:xfrm>
            <a:off x="124275" y="6071675"/>
            <a:ext cx="11896800" cy="731400"/>
          </a:xfrm>
          <a:prstGeom prst="rect">
            <a:avLst/>
          </a:prstGeom>
          <a:solidFill>
            <a:srgbClr val="FFF0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215775" y="6151350"/>
            <a:ext cx="1141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Key: Q0std causes 31–69% gene loss (different gene set from FL panel). QNBKass shares the exact gene set → zero gene loss when paired with any P dataset.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Additional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Speed-Up Motivation: Shambhala can take up to 2-3 days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228610" y="1155468"/>
            <a:ext cx="1159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 with 30 parallel Octave workers, per-run times were prohibitive:</a:t>
            </a:r>
            <a:endParaRPr sz="2000"/>
          </a:p>
        </p:txBody>
      </p:sp>
      <p:graphicFrame>
        <p:nvGraphicFramePr>
          <p:cNvPr id="175" name="Google Shape;175;p8"/>
          <p:cNvGraphicFramePr/>
          <p:nvPr/>
        </p:nvGraphicFramePr>
        <p:xfrm>
          <a:off x="137248" y="1690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4637825"/>
                <a:gridCol w="2898650"/>
                <a:gridCol w="4058100"/>
              </a:tblGrid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Imputation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</a:rPr>
                        <a:t>Estimated time / Shambhala run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P0std (NP=39)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strict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~1 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Large P (ANTE, GTExAffy, NBext, NBGPL570)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strict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6–8 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Large P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knn or softimpute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</a:rPr>
                        <a:t>2–3 days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8"/>
          <p:cNvSpPr txBox="1"/>
          <p:nvPr/>
        </p:nvSpPr>
        <p:spPr>
          <a:xfrm>
            <a:off x="137185" y="3172580"/>
            <a:ext cx="11594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KNN and softimpute produce more surviving genes (fewer dropped due to NAs) → larger input matrix → more QN and CuBlock work per sample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Total benchmark cost without speed-up: 54 jobs × average ~12 h = ~27 days of compute on a single pod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Goal: reduce per-run time by caching computations that are identical across all N worker batches within one job</a:t>
            </a:r>
            <a:endParaRPr sz="2000"/>
          </a:p>
        </p:txBody>
      </p:sp>
      <p:sp>
        <p:nvSpPr>
          <p:cNvPr id="177" name="Google Shape;177;p8"/>
          <p:cNvSpPr txBox="1"/>
          <p:nvPr/>
        </p:nvSpPr>
        <p:spPr>
          <a:xfrm>
            <a:off x="137185" y="4340080"/>
            <a:ext cx="115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Two bottlenecks identified:</a:t>
            </a:r>
            <a:endParaRPr sz="2000"/>
          </a:p>
        </p:txBody>
      </p:sp>
      <p:sp>
        <p:nvSpPr>
          <p:cNvPr id="178" name="Google Shape;178;p8"/>
          <p:cNvSpPr txBox="1"/>
          <p:nvPr/>
        </p:nvSpPr>
        <p:spPr>
          <a:xfrm>
            <a:off x="275860" y="4709380"/>
            <a:ext cx="11594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Bottleneck 1 — Quantile Normalization on P: each of 30 workers re-sorts the same P matrix (NP=250 for NBGPL570) independently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Bottleneck 2 — k-means in CuBlock: 30 stochastic k-means runs per sample × N_samples per worker, with P-matrix-dependent complexity</a:t>
            </a:r>
            <a:endParaRPr sz="2000"/>
          </a:p>
        </p:txBody>
      </p:sp>
      <p:sp>
        <p:nvSpPr>
          <p:cNvPr id="179" name="Google Shape;179;p8"/>
          <p:cNvSpPr/>
          <p:nvPr/>
        </p:nvSpPr>
        <p:spPr>
          <a:xfrm>
            <a:off x="77550" y="6005400"/>
            <a:ext cx="11991300" cy="7296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137175" y="6062400"/>
            <a:ext cx="11411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Strategy: pre-compute QN reference and k-means clusters once before launching workers, then inject the cached results into every Octave subprocess.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228600" y="45720"/>
            <a:ext cx="1173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Speed-Up Approaches: 9 Combinations Tested</a:t>
            </a:r>
            <a:endParaRPr sz="1600"/>
          </a:p>
        </p:txBody>
      </p:sp>
      <p:sp>
        <p:nvSpPr>
          <p:cNvPr id="188" name="Google Shape;188;p9"/>
          <p:cNvSpPr txBox="1"/>
          <p:nvPr/>
        </p:nvSpPr>
        <p:spPr>
          <a:xfrm>
            <a:off x="144600" y="1005850"/>
            <a:ext cx="1193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approaches pre-compute or approximate something Octave otherwise recomputes per sample. Trade-off: speed vs. fidelity to the original algorithm.</a:t>
            </a:r>
            <a:endParaRPr sz="1800"/>
          </a:p>
        </p:txBody>
      </p:sp>
      <p:graphicFrame>
        <p:nvGraphicFramePr>
          <p:cNvPr id="189" name="Google Shape;189;p9"/>
          <p:cNvGraphicFramePr/>
          <p:nvPr/>
        </p:nvGraphicFramePr>
        <p:xfrm>
          <a:off x="137010" y="1407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2380425"/>
                <a:gridCol w="5659425"/>
                <a:gridCol w="1891725"/>
                <a:gridCol w="1891725"/>
              </a:tblGrid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Combo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</a:rPr>
                        <a:t>Distortion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baseline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Exact Octave; no caching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1.0×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0.00%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 — Python QN ref.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Pre-compute QN sort order from P once; inject into every worker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~1.0×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0.98%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C_40 — P subsampling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Replace P with 40 centroids if NP&gt;40; no effect at NP=39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~1.0× at NP=39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0.00%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C_20 — P subsampling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Same as C_40 but more aggressive (20 centroids)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~1.6×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2.45%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E — pre-run k-means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Run k-means on P genes once in Python; pass labels to Octave (skips 30 random inits)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~10.6×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1.26%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A_D — QN + synthetic P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Replace P matrix with 1 synthetic centroid; eliminates large-P overhead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~5.3×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14.67%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★ A_E — QN + k-means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Pre-compute BOTH: QN reference (A) + k-means labels (E)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~8.6×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1.39%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A_D_E — all flags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A + D + E combined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~16.8×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9.00%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G — Python CuBlock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Replace entire Octave CuBlock with pure Python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226%</a:t>
                      </a:r>
                      <a:endParaRPr sz="20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9"/>
          <p:cNvSpPr/>
          <p:nvPr/>
        </p:nvSpPr>
        <p:spPr>
          <a:xfrm>
            <a:off x="77550" y="5331672"/>
            <a:ext cx="12003000" cy="698100"/>
          </a:xfrm>
          <a:prstGeom prst="rect">
            <a:avLst/>
          </a:prstGeom>
          <a:solidFill>
            <a:srgbClr val="FFEE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167400" y="5466400"/>
            <a:ext cx="1182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G fails (deadlock): Python PCG64 and Octave Mersenne Twister produce different k-means clusters from same seed → 226% distortion. Additionally, returning a large NumPy array from subprocess via ProcessPoolExecutor shared queue causes a permanent QueueFeederThread hang.</a:t>
            </a:r>
            <a:endParaRPr sz="1900"/>
          </a:p>
        </p:txBody>
      </p:sp>
      <p:sp>
        <p:nvSpPr>
          <p:cNvPr id="192" name="Google Shape;192;p9"/>
          <p:cNvSpPr/>
          <p:nvPr/>
        </p:nvSpPr>
        <p:spPr>
          <a:xfrm>
            <a:off x="77550" y="6144775"/>
            <a:ext cx="12003000" cy="6339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37175" y="6169225"/>
            <a:ext cx="1141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★ A_E selected: 8.6× speedup with only 1.39% mean relative distortion. No structural algorithm change — only caches two pre-computable results.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A_E Approved Approach: How Each Flag Works</a:t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127785" y="1033705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A_E = --precompute-qn-reference  +  --precompute-cublock-clusters</a:t>
            </a:r>
            <a:endParaRPr sz="2200"/>
          </a:p>
        </p:txBody>
      </p:sp>
      <p:sp>
        <p:nvSpPr>
          <p:cNvPr id="202" name="Google Shape;202;p10"/>
          <p:cNvSpPr txBox="1"/>
          <p:nvPr/>
        </p:nvSpPr>
        <p:spPr>
          <a:xfrm>
            <a:off x="127850" y="1407275"/>
            <a:ext cx="1183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Flag A — pre-compute QN reference in Python</a:t>
            </a:r>
            <a:endParaRPr sz="2200"/>
          </a:p>
        </p:txBody>
      </p:sp>
      <p:sp>
        <p:nvSpPr>
          <p:cNvPr id="203" name="Google Shape;203;p10"/>
          <p:cNvSpPr txBox="1"/>
          <p:nvPr/>
        </p:nvSpPr>
        <p:spPr>
          <a:xfrm>
            <a:off x="365750" y="1797100"/>
            <a:ext cx="11823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sort each gene in P by expression value; record rank-to-value mapping. Inject pre-computed lookup table into every Octave subprocess (no re-sorting of P)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it helps: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QN on large P matrix (NP=250 for NBGPL570) is the single biggest bottleneck. Without caching, each of 30 workers recomputes the same sort on the same P data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Risk: 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qnorm library and Octave's QN agree to within 0.98% on continuous data (Bolstad 2003 method). For integer/tie-heavy data implementations may diverge slightly — stays below 1% in FL dataset</a:t>
            </a:r>
            <a:endParaRPr sz="2000"/>
          </a:p>
        </p:txBody>
      </p:sp>
      <p:sp>
        <p:nvSpPr>
          <p:cNvPr id="204" name="Google Shape;204;p10"/>
          <p:cNvSpPr txBox="1"/>
          <p:nvPr/>
        </p:nvSpPr>
        <p:spPr>
          <a:xfrm>
            <a:off x="127785" y="3408543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Flag E — pre-compute k-means clusters</a:t>
            </a:r>
            <a:endParaRPr sz="2200"/>
          </a:p>
        </p:txBody>
      </p:sp>
      <p:sp>
        <p:nvSpPr>
          <p:cNvPr id="205" name="Google Shape;205;p10"/>
          <p:cNvSpPr txBox="1"/>
          <p:nvPr/>
        </p:nvSpPr>
        <p:spPr>
          <a:xfrm>
            <a:off x="337210" y="3743718"/>
            <a:ext cx="11394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run k-means on P gene matrix once in Python with a fixed random seed; produce k=5 cluster labels. Pass labels to Octave via --eval — Octave skips its own k-means initialization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it helps: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CuBlock's inner loop runs k-means 30 times per sample (averaging over random initializations). Pre-computing removes all 30 × N_samples random k-means calls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1.39% distortion is acceptable:</a:t>
            </a:r>
            <a:r>
              <a:rPr b="0" lang="en-US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CuBlock already averages 30 stochastic runs to smooth out randomness. The single Python k-means pass uses a slightly different PRNG than Octave — deviation (1.39%) is comparable to natural run-to-run variability of the baseline itself</a:t>
            </a:r>
            <a:endParaRPr sz="2000"/>
          </a:p>
        </p:txBody>
      </p:sp>
      <p:sp>
        <p:nvSpPr>
          <p:cNvPr id="206" name="Google Shape;206;p10"/>
          <p:cNvSpPr/>
          <p:nvPr/>
        </p:nvSpPr>
        <p:spPr>
          <a:xfrm>
            <a:off x="127775" y="5719801"/>
            <a:ext cx="11832600" cy="10059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228600" y="5819725"/>
            <a:ext cx="11411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Both flags cache only external inputs (P matrix computations). The per-sample harmonization logic inside Octave/CuBlock is fully preserved.</a:t>
            </a:r>
            <a:endParaRPr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A_E Performance Summary: Speed-up by 10x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46475" y="1005850"/>
            <a:ext cx="61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Lab test (10-sample fixture, 8,174 genes, P0std NP=39):</a:t>
            </a:r>
            <a:endParaRPr sz="2200"/>
          </a:p>
        </p:txBody>
      </p:sp>
      <p:graphicFrame>
        <p:nvGraphicFramePr>
          <p:cNvPr id="216" name="Google Shape;216;p11"/>
          <p:cNvGraphicFramePr/>
          <p:nvPr/>
        </p:nvGraphicFramePr>
        <p:xfrm>
          <a:off x="228610" y="1501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2349450"/>
                <a:gridCol w="1409700"/>
                <a:gridCol w="1461900"/>
              </a:tblGrid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A_E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Calculation</a:t>
                      </a: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 time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~48 s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~5.6 s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Speedup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1.0×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8.6×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Mean relative distortion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0.00%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1.39%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1"/>
          <p:cNvSpPr txBox="1"/>
          <p:nvPr/>
        </p:nvSpPr>
        <p:spPr>
          <a:xfrm>
            <a:off x="6263056" y="998205"/>
            <a:ext cx="5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Real-world K8s pod (S0, ~5,444 samples):</a:t>
            </a:r>
            <a:endParaRPr sz="2300"/>
          </a:p>
        </p:txBody>
      </p:sp>
      <p:graphicFrame>
        <p:nvGraphicFramePr>
          <p:cNvPr id="218" name="Google Shape;218;p11"/>
          <p:cNvGraphicFramePr/>
          <p:nvPr/>
        </p:nvGraphicFramePr>
        <p:xfrm>
          <a:off x="5531231" y="1548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2768525"/>
                <a:gridCol w="2307100"/>
                <a:gridCol w="1516100"/>
              </a:tblGrid>
              <a:tr h="2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Interval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ANTE × Q0std (knn)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2026-05-22 16:01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—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NBGPL570 × Q0std (knn)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2026-05-22 16:42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41 min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NBKass × Q0std (knn)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2026-05-22 17:22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40 min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NBRNAseq × Q0std (knn)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2026-05-22 18:03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</a:rPr>
                        <a:t>41 min</a:t>
                      </a:r>
                      <a:endParaRPr sz="24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11"/>
          <p:cNvSpPr/>
          <p:nvPr/>
        </p:nvSpPr>
        <p:spPr>
          <a:xfrm>
            <a:off x="264525" y="3711681"/>
            <a:ext cx="11663100" cy="4926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261325" y="3742575"/>
            <a:ext cx="11411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~40 minutes per run for ALL P/Q variants including the largest (NBGPL570, NP=250).</a:t>
            </a:r>
            <a:endParaRPr sz="2500"/>
          </a:p>
        </p:txBody>
      </p:sp>
      <p:sp>
        <p:nvSpPr>
          <p:cNvPr id="221" name="Google Shape;221;p11"/>
          <p:cNvSpPr txBox="1"/>
          <p:nvPr/>
        </p:nvSpPr>
        <p:spPr>
          <a:xfrm>
            <a:off x="168235" y="4207718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Before vs. after A_E deployment:</a:t>
            </a:r>
            <a:endParaRPr sz="2300"/>
          </a:p>
        </p:txBody>
      </p:sp>
      <p:graphicFrame>
        <p:nvGraphicFramePr>
          <p:cNvPr id="222" name="Google Shape;222;p11"/>
          <p:cNvGraphicFramePr/>
          <p:nvPr/>
        </p:nvGraphicFramePr>
        <p:xfrm>
          <a:off x="297185" y="45747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{7F330EC9-C1FF-4F20-87E2-F85179F3C288}</a:tableStyleId>
              </a:tblPr>
              <a:tblGrid>
                <a:gridCol w="4637825"/>
                <a:gridCol w="2318925"/>
                <a:gridCol w="2318925"/>
                <a:gridCol w="2318925"/>
              </a:tblGrid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Before A_E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After A_E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FFFFFF"/>
                          </a:solidFill>
                        </a:rPr>
                        <a:t>Gain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2E6DA4"/>
                    </a:solidFill>
                  </a:tcPr>
                </a:tc>
              </a:tr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Files per day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~53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~517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~10×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3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Large-P run time (estimated)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~4–6 h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~40 min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A1A1A"/>
                          </a:solidFill>
                        </a:rPr>
                        <a:t>~6–9×</a:t>
                      </a:r>
                      <a:endParaRPr sz="2500"/>
                    </a:p>
                  </a:txBody>
                  <a:tcPr marT="45725" marB="45725" marR="91450" marL="91450"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1"/>
          <p:cNvSpPr txBox="1"/>
          <p:nvPr/>
        </p:nvSpPr>
        <p:spPr>
          <a:xfrm>
            <a:off x="121500" y="5807125"/>
            <a:ext cx="1194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Distortion metric: mean relative difference across all genes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Values reach ~100,000 in Q-rescaled scale; max absolute difference dominated by outlier genes → not a useful metric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Mean relative difference of 1.39% is within natural run-to-run variability of the stochastic baseline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g3e4c7dfdd20_0_1"/>
          <p:cNvGrpSpPr/>
          <p:nvPr/>
        </p:nvGrpSpPr>
        <p:grpSpPr>
          <a:xfrm>
            <a:off x="1589755" y="856768"/>
            <a:ext cx="2194563" cy="5842767"/>
            <a:chOff x="7420070" y="266925"/>
            <a:chExt cx="1723930" cy="4589762"/>
          </a:xfrm>
        </p:grpSpPr>
        <p:pic>
          <p:nvPicPr>
            <p:cNvPr id="229" name="Google Shape;229;g3e4c7dfdd20_0_1"/>
            <p:cNvPicPr preferRelativeResize="0"/>
            <p:nvPr/>
          </p:nvPicPr>
          <p:blipFill rotWithShape="1">
            <a:blip r:embed="rId4">
              <a:alphaModFix/>
            </a:blip>
            <a:srcRect b="33241" l="17225" r="60253" t="36040"/>
            <a:stretch/>
          </p:blipFill>
          <p:spPr>
            <a:xfrm>
              <a:off x="7420070" y="266925"/>
              <a:ext cx="1723930" cy="15617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g3e4c7dfdd20_0_1"/>
            <p:cNvPicPr preferRelativeResize="0"/>
            <p:nvPr/>
          </p:nvPicPr>
          <p:blipFill rotWithShape="1">
            <a:blip r:embed="rId4">
              <a:alphaModFix/>
            </a:blip>
            <a:srcRect b="31954" l="40136" r="38653" t="36038"/>
            <a:stretch/>
          </p:blipFill>
          <p:spPr>
            <a:xfrm>
              <a:off x="7437022" y="1807913"/>
              <a:ext cx="1623559" cy="16272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g3e4c7dfdd20_0_1"/>
            <p:cNvPicPr preferRelativeResize="0"/>
            <p:nvPr/>
          </p:nvPicPr>
          <p:blipFill rotWithShape="1">
            <a:blip r:embed="rId4">
              <a:alphaModFix/>
            </a:blip>
            <a:srcRect b="31954" l="61948" r="17698" t="36038"/>
            <a:stretch/>
          </p:blipFill>
          <p:spPr>
            <a:xfrm>
              <a:off x="7420070" y="3229398"/>
              <a:ext cx="1557978" cy="16272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g3e4c7dfdd20_0_1"/>
          <p:cNvSpPr/>
          <p:nvPr/>
        </p:nvSpPr>
        <p:spPr>
          <a:xfrm>
            <a:off x="0" y="0"/>
            <a:ext cx="12189000" cy="613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4c7dfdd20_0_1"/>
          <p:cNvSpPr/>
          <p:nvPr/>
        </p:nvSpPr>
        <p:spPr>
          <a:xfrm>
            <a:off x="11548872" y="91440"/>
            <a:ext cx="640200" cy="4116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34" name="Google Shape;234;g3e4c7dfdd20_0_1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vs Speed-up Shambhala Comparison: Nearly Identical PCA Plots</a:t>
            </a:r>
            <a:endParaRPr/>
          </a:p>
        </p:txBody>
      </p:sp>
      <p:pic>
        <p:nvPicPr>
          <p:cNvPr id="235" name="Google Shape;235;g3e4c7dfdd20_0_1"/>
          <p:cNvPicPr preferRelativeResize="0"/>
          <p:nvPr/>
        </p:nvPicPr>
        <p:blipFill rotWithShape="1">
          <a:blip r:embed="rId5">
            <a:alphaModFix/>
          </a:blip>
          <a:srcRect b="51119" l="0" r="0" t="0"/>
          <a:stretch/>
        </p:blipFill>
        <p:spPr>
          <a:xfrm>
            <a:off x="3358558" y="856775"/>
            <a:ext cx="8782224" cy="2943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4c7dfdd20_0_1"/>
          <p:cNvPicPr preferRelativeResize="0"/>
          <p:nvPr/>
        </p:nvPicPr>
        <p:blipFill rotWithShape="1">
          <a:blip r:embed="rId6">
            <a:alphaModFix/>
          </a:blip>
          <a:srcRect b="51649" l="0" r="0" t="0"/>
          <a:stretch/>
        </p:blipFill>
        <p:spPr>
          <a:xfrm>
            <a:off x="3310392" y="3800469"/>
            <a:ext cx="8878559" cy="29436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e4c7dfdd20_0_1"/>
          <p:cNvSpPr txBox="1"/>
          <p:nvPr/>
        </p:nvSpPr>
        <p:spPr>
          <a:xfrm>
            <a:off x="5" y="1870121"/>
            <a:ext cx="19161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sz="34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4c7dfdd20_0_1"/>
          <p:cNvSpPr txBox="1"/>
          <p:nvPr/>
        </p:nvSpPr>
        <p:spPr>
          <a:xfrm>
            <a:off x="0" y="4648723"/>
            <a:ext cx="219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Speed-up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e4c7dfdd20_0_1"/>
          <p:cNvCxnSpPr/>
          <p:nvPr/>
        </p:nvCxnSpPr>
        <p:spPr>
          <a:xfrm flipH="1" rot="10800000">
            <a:off x="4291725" y="2167850"/>
            <a:ext cx="65700" cy="36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g3e4c7dfdd20_0_1"/>
          <p:cNvCxnSpPr/>
          <p:nvPr/>
        </p:nvCxnSpPr>
        <p:spPr>
          <a:xfrm flipH="1" rot="10800000">
            <a:off x="3919475" y="5780625"/>
            <a:ext cx="120600" cy="4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4c7dfdd20_0_22"/>
          <p:cNvSpPr/>
          <p:nvPr/>
        </p:nvSpPr>
        <p:spPr>
          <a:xfrm>
            <a:off x="0" y="0"/>
            <a:ext cx="12189000" cy="613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4c7dfdd20_0_22"/>
          <p:cNvSpPr/>
          <p:nvPr/>
        </p:nvSpPr>
        <p:spPr>
          <a:xfrm>
            <a:off x="11548872" y="91440"/>
            <a:ext cx="640200" cy="4116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47" name="Google Shape;247;g3e4c7dfdd20_0_22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vs Speed-up Shambhala Comparison: Nearly Identical UMAP Plots</a:t>
            </a:r>
            <a:endParaRPr/>
          </a:p>
        </p:txBody>
      </p:sp>
      <p:pic>
        <p:nvPicPr>
          <p:cNvPr id="248" name="Google Shape;248;g3e4c7dfdd20_0_22"/>
          <p:cNvPicPr preferRelativeResize="0"/>
          <p:nvPr/>
        </p:nvPicPr>
        <p:blipFill rotWithShape="1">
          <a:blip r:embed="rId3">
            <a:alphaModFix/>
          </a:blip>
          <a:srcRect b="52222" l="0" r="0" t="0"/>
          <a:stretch/>
        </p:blipFill>
        <p:spPr>
          <a:xfrm>
            <a:off x="3564850" y="957125"/>
            <a:ext cx="8624099" cy="282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e4c7dfdd20_0_22"/>
          <p:cNvPicPr preferRelativeResize="0"/>
          <p:nvPr/>
        </p:nvPicPr>
        <p:blipFill rotWithShape="1">
          <a:blip r:embed="rId4">
            <a:alphaModFix/>
          </a:blip>
          <a:srcRect b="51362" l="0" r="0" t="0"/>
          <a:stretch/>
        </p:blipFill>
        <p:spPr>
          <a:xfrm>
            <a:off x="3564850" y="3562582"/>
            <a:ext cx="8624099" cy="28763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g3e4c7dfdd20_0_22"/>
          <p:cNvGrpSpPr/>
          <p:nvPr/>
        </p:nvGrpSpPr>
        <p:grpSpPr>
          <a:xfrm>
            <a:off x="1589755" y="856768"/>
            <a:ext cx="2194563" cy="5842767"/>
            <a:chOff x="7420070" y="266925"/>
            <a:chExt cx="1723930" cy="4589762"/>
          </a:xfrm>
        </p:grpSpPr>
        <p:pic>
          <p:nvPicPr>
            <p:cNvPr id="251" name="Google Shape;251;g3e4c7dfdd20_0_22"/>
            <p:cNvPicPr preferRelativeResize="0"/>
            <p:nvPr/>
          </p:nvPicPr>
          <p:blipFill rotWithShape="1">
            <a:blip r:embed="rId5">
              <a:alphaModFix/>
            </a:blip>
            <a:srcRect b="33241" l="17225" r="60253" t="36040"/>
            <a:stretch/>
          </p:blipFill>
          <p:spPr>
            <a:xfrm>
              <a:off x="7420070" y="266925"/>
              <a:ext cx="1723930" cy="15617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g3e4c7dfdd20_0_22"/>
            <p:cNvPicPr preferRelativeResize="0"/>
            <p:nvPr/>
          </p:nvPicPr>
          <p:blipFill rotWithShape="1">
            <a:blip r:embed="rId5">
              <a:alphaModFix/>
            </a:blip>
            <a:srcRect b="31954" l="40136" r="38653" t="36038"/>
            <a:stretch/>
          </p:blipFill>
          <p:spPr>
            <a:xfrm>
              <a:off x="7437022" y="1807913"/>
              <a:ext cx="1623559" cy="16272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g3e4c7dfdd20_0_22"/>
            <p:cNvPicPr preferRelativeResize="0"/>
            <p:nvPr/>
          </p:nvPicPr>
          <p:blipFill rotWithShape="1">
            <a:blip r:embed="rId5">
              <a:alphaModFix/>
            </a:blip>
            <a:srcRect b="31954" l="61948" r="17698" t="36038"/>
            <a:stretch/>
          </p:blipFill>
          <p:spPr>
            <a:xfrm>
              <a:off x="7420070" y="3229398"/>
              <a:ext cx="1557978" cy="16272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g3e4c7dfdd20_0_22"/>
          <p:cNvSpPr txBox="1"/>
          <p:nvPr/>
        </p:nvSpPr>
        <p:spPr>
          <a:xfrm>
            <a:off x="5" y="1870121"/>
            <a:ext cx="19161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sz="34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4c7dfdd20_0_22"/>
          <p:cNvSpPr txBox="1"/>
          <p:nvPr/>
        </p:nvSpPr>
        <p:spPr>
          <a:xfrm>
            <a:off x="0" y="4648723"/>
            <a:ext cx="219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Speed-up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4c7dfdd20_0_48"/>
          <p:cNvSpPr/>
          <p:nvPr/>
        </p:nvSpPr>
        <p:spPr>
          <a:xfrm>
            <a:off x="0" y="0"/>
            <a:ext cx="12189000" cy="613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4c7dfdd20_0_48"/>
          <p:cNvSpPr/>
          <p:nvPr/>
        </p:nvSpPr>
        <p:spPr>
          <a:xfrm>
            <a:off x="11548872" y="91440"/>
            <a:ext cx="640200" cy="4116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62" name="Google Shape;262;g3e4c7dfdd20_0_48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vs Speed-up Shambhala Comparison: Nearly Identical tSNE Plots</a:t>
            </a:r>
            <a:endParaRPr/>
          </a:p>
        </p:txBody>
      </p:sp>
      <p:grpSp>
        <p:nvGrpSpPr>
          <p:cNvPr id="263" name="Google Shape;263;g3e4c7dfdd20_0_48"/>
          <p:cNvGrpSpPr/>
          <p:nvPr/>
        </p:nvGrpSpPr>
        <p:grpSpPr>
          <a:xfrm>
            <a:off x="1589755" y="856768"/>
            <a:ext cx="2194563" cy="5842767"/>
            <a:chOff x="7420070" y="266925"/>
            <a:chExt cx="1723930" cy="4589762"/>
          </a:xfrm>
        </p:grpSpPr>
        <p:pic>
          <p:nvPicPr>
            <p:cNvPr id="264" name="Google Shape;264;g3e4c7dfdd20_0_48"/>
            <p:cNvPicPr preferRelativeResize="0"/>
            <p:nvPr/>
          </p:nvPicPr>
          <p:blipFill rotWithShape="1">
            <a:blip r:embed="rId3">
              <a:alphaModFix/>
            </a:blip>
            <a:srcRect b="33241" l="17225" r="60253" t="36040"/>
            <a:stretch/>
          </p:blipFill>
          <p:spPr>
            <a:xfrm>
              <a:off x="7420070" y="266925"/>
              <a:ext cx="1723930" cy="15617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g3e4c7dfdd20_0_48"/>
            <p:cNvPicPr preferRelativeResize="0"/>
            <p:nvPr/>
          </p:nvPicPr>
          <p:blipFill rotWithShape="1">
            <a:blip r:embed="rId3">
              <a:alphaModFix/>
            </a:blip>
            <a:srcRect b="31954" l="40136" r="38653" t="36038"/>
            <a:stretch/>
          </p:blipFill>
          <p:spPr>
            <a:xfrm>
              <a:off x="7437022" y="1807913"/>
              <a:ext cx="1623559" cy="16272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g3e4c7dfdd20_0_48"/>
            <p:cNvPicPr preferRelativeResize="0"/>
            <p:nvPr/>
          </p:nvPicPr>
          <p:blipFill rotWithShape="1">
            <a:blip r:embed="rId3">
              <a:alphaModFix/>
            </a:blip>
            <a:srcRect b="31954" l="61948" r="17698" t="36038"/>
            <a:stretch/>
          </p:blipFill>
          <p:spPr>
            <a:xfrm>
              <a:off x="7420070" y="3229398"/>
              <a:ext cx="1557978" cy="16272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g3e4c7dfdd20_0_48"/>
          <p:cNvSpPr txBox="1"/>
          <p:nvPr/>
        </p:nvSpPr>
        <p:spPr>
          <a:xfrm>
            <a:off x="5" y="1870121"/>
            <a:ext cx="19161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sz="34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4c7dfdd20_0_48"/>
          <p:cNvSpPr txBox="1"/>
          <p:nvPr/>
        </p:nvSpPr>
        <p:spPr>
          <a:xfrm>
            <a:off x="0" y="4648723"/>
            <a:ext cx="219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675" lIns="106675" spcFirstLastPara="1" rIns="106675" wrap="square" tIns="10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Speed-up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e4c7dfdd20_0_48"/>
          <p:cNvPicPr preferRelativeResize="0"/>
          <p:nvPr/>
        </p:nvPicPr>
        <p:blipFill rotWithShape="1">
          <a:blip r:embed="rId4">
            <a:alphaModFix/>
          </a:blip>
          <a:srcRect b="52222" l="0" r="0" t="0"/>
          <a:stretch/>
        </p:blipFill>
        <p:spPr>
          <a:xfrm>
            <a:off x="3517900" y="930675"/>
            <a:ext cx="8671050" cy="2840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e4c7dfdd20_0_48"/>
          <p:cNvPicPr preferRelativeResize="0"/>
          <p:nvPr/>
        </p:nvPicPr>
        <p:blipFill rotWithShape="1">
          <a:blip r:embed="rId5">
            <a:alphaModFix/>
          </a:blip>
          <a:srcRect b="51296" l="0" r="0" t="0"/>
          <a:stretch/>
        </p:blipFill>
        <p:spPr>
          <a:xfrm>
            <a:off x="3517900" y="3593082"/>
            <a:ext cx="8671050" cy="289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4c7dfdd20_0_66"/>
          <p:cNvSpPr/>
          <p:nvPr/>
        </p:nvSpPr>
        <p:spPr>
          <a:xfrm>
            <a:off x="0" y="0"/>
            <a:ext cx="12189000" cy="8928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4c7dfdd20_0_66"/>
          <p:cNvSpPr/>
          <p:nvPr/>
        </p:nvSpPr>
        <p:spPr>
          <a:xfrm>
            <a:off x="11548872" y="91440"/>
            <a:ext cx="640200" cy="4116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77" name="Google Shape;277;g3e4c7dfdd20_0_66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relative change vs the original shambhala by cohort: low, no connection with sample size </a:t>
            </a:r>
            <a:endParaRPr/>
          </a:p>
        </p:txBody>
      </p:sp>
      <p:pic>
        <p:nvPicPr>
          <p:cNvPr id="278" name="Google Shape;278;g3e4c7dfdd2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750" y="892800"/>
            <a:ext cx="8975869" cy="3884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e4c7dfdd20_0_66"/>
          <p:cNvPicPr preferRelativeResize="0"/>
          <p:nvPr/>
        </p:nvPicPr>
        <p:blipFill rotWithShape="1">
          <a:blip r:embed="rId4">
            <a:alphaModFix/>
          </a:blip>
          <a:srcRect b="48176" l="0" r="0" t="0"/>
          <a:stretch/>
        </p:blipFill>
        <p:spPr>
          <a:xfrm>
            <a:off x="2241750" y="4777667"/>
            <a:ext cx="8975869" cy="199153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e4c7dfdd20_0_66"/>
          <p:cNvSpPr txBox="1"/>
          <p:nvPr/>
        </p:nvSpPr>
        <p:spPr>
          <a:xfrm>
            <a:off x="0" y="3053875"/>
            <a:ext cx="2598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+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 cohort, 0.27 relative change, 600 samples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4c7dfdd20_0_100"/>
          <p:cNvSpPr/>
          <p:nvPr/>
        </p:nvSpPr>
        <p:spPr>
          <a:xfrm>
            <a:off x="0" y="0"/>
            <a:ext cx="12189000" cy="8928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4c7dfdd20_0_100"/>
          <p:cNvSpPr/>
          <p:nvPr/>
        </p:nvSpPr>
        <p:spPr>
          <a:xfrm>
            <a:off x="11548872" y="91440"/>
            <a:ext cx="640200" cy="4116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87" name="Google Shape;287;g3e4c7dfdd20_0_100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relative change vs the original shambhala by gene: random noise</a:t>
            </a:r>
            <a:endParaRPr/>
          </a:p>
        </p:txBody>
      </p:sp>
      <p:pic>
        <p:nvPicPr>
          <p:cNvPr id="288" name="Google Shape;288;g3e4c7dfdd20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030700"/>
            <a:ext cx="7752075" cy="58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Implemented: What Is Measured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261460" y="1023955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11 metric groups computed per harmonized expression file. Three new/extended groups this period:</a:t>
            </a:r>
            <a:endParaRPr sz="2200"/>
          </a:p>
        </p:txBody>
      </p:sp>
      <p:sp>
        <p:nvSpPr>
          <p:cNvPr id="297" name="Google Shape;297;p12"/>
          <p:cNvSpPr txBox="1"/>
          <p:nvPr/>
        </p:nvSpPr>
        <p:spPr>
          <a:xfrm>
            <a:off x="365760" y="1407280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Group J — PC variance distribution  (new)</a:t>
            </a:r>
            <a:endParaRPr sz="2200"/>
          </a:p>
        </p:txBody>
      </p:sp>
      <p:sp>
        <p:nvSpPr>
          <p:cNvPr id="298" name="Google Shape;298;p12"/>
          <p:cNvSpPr txBox="1"/>
          <p:nvPr/>
        </p:nvSpPr>
        <p:spPr>
          <a:xfrm>
            <a:off x="228650" y="1677275"/>
            <a:ext cx="1173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pct_var_pc1 through pct_var_pc10 and pct_var_cum_top10: % variance explained per PC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Purpose: track batch effect removal. Before FSQN: PC1 ≈ 95%. After good normalization: PC1 drops to single-digit %</a:t>
            </a:r>
            <a:endParaRPr sz="2200"/>
          </a:p>
        </p:txBody>
      </p:sp>
      <p:sp>
        <p:nvSpPr>
          <p:cNvPr id="299" name="Google Shape;299;p12"/>
          <p:cNvSpPr txBox="1"/>
          <p:nvPr/>
        </p:nvSpPr>
        <p:spPr>
          <a:xfrm>
            <a:off x="365760" y="2305655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Group K — NA retention statistics  (new)</a:t>
            </a:r>
            <a:endParaRPr sz="2200"/>
          </a:p>
        </p:txBody>
      </p:sp>
      <p:sp>
        <p:nvSpPr>
          <p:cNvPr id="300" name="Google Shape;300;p12"/>
          <p:cNvSpPr txBox="1"/>
          <p:nvPr/>
        </p:nvSpPr>
        <p:spPr>
          <a:xfrm>
            <a:off x="228600" y="2607500"/>
            <a:ext cx="1166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pct_genes_noNA, pct_samples_noNA, n_na_cells, pct_na_cells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Purpose: detect methods that silently drop genes or samples (e.g. strict imputation removes all genes with any NA)</a:t>
            </a:r>
            <a:endParaRPr sz="2200"/>
          </a:p>
        </p:txBody>
      </p:sp>
      <p:sp>
        <p:nvSpPr>
          <p:cNvPr id="301" name="Google Shape;301;p12"/>
          <p:cNvSpPr txBox="1"/>
          <p:nvPr/>
        </p:nvSpPr>
        <p:spPr>
          <a:xfrm>
            <a:off x="365760" y="3254292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Group I — WaterMelon score  (extended)</a:t>
            </a:r>
            <a:endParaRPr sz="2200"/>
          </a:p>
        </p:txBody>
      </p:sp>
      <p:sp>
        <p:nvSpPr>
          <p:cNvPr id="302" name="Google Shape;302;p12"/>
          <p:cNvSpPr txBox="1"/>
          <p:nvPr/>
        </p:nvSpPr>
        <p:spPr>
          <a:xfrm>
            <a:off x="261449" y="3618563"/>
            <a:ext cx="1211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wm_mean_batch: entropy-based clustering quality — LOW = same-batch samples NOT clustered together = good batch removal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wm_mean_bio: HIGH = same-diagnosis samples DO cluster together = biology preserved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wm_ratio_bio_batch: single composite score to rank methods (Zolotovskaya et al. 2020)</a:t>
            </a:r>
            <a:endParaRPr sz="2200"/>
          </a:p>
        </p:txBody>
      </p:sp>
      <p:sp>
        <p:nvSpPr>
          <p:cNvPr id="303" name="Google Shape;303;p12"/>
          <p:cNvSpPr txBox="1"/>
          <p:nvPr/>
        </p:nvSpPr>
        <p:spPr>
          <a:xfrm>
            <a:off x="365760" y="4784855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Previously implemented (groups A–H):</a:t>
            </a:r>
            <a:endParaRPr sz="2200"/>
          </a:p>
        </p:txBody>
      </p:sp>
      <p:sp>
        <p:nvSpPr>
          <p:cNvPr id="304" name="Google Shape;304;p12"/>
          <p:cNvSpPr txBox="1"/>
          <p:nvPr/>
        </p:nvSpPr>
        <p:spPr>
          <a:xfrm>
            <a:off x="261460" y="5214655"/>
            <a:ext cx="11444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PCA R², kBET, iLISI, cLISI, ASW (batch + biology), UMAP/tSNE centroid dispersion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Pairwise KS tests, variancePartition mixed-model decomposition, kNN graph connectivity, intra/inter-group distance ratios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Progress: Expression Files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121835" y="1094005"/>
            <a:ext cx="115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S3 bucket: $FL_S3_BUCKET/FL_batch_correction/exp/   |   Log date: 2026-05-26</a:t>
            </a:r>
            <a:endParaRPr sz="2100"/>
          </a:p>
        </p:txBody>
      </p:sp>
      <p:sp>
        <p:nvSpPr>
          <p:cNvPr id="313" name="Google Shape;313;p13"/>
          <p:cNvSpPr txBox="1"/>
          <p:nvPr/>
        </p:nvSpPr>
        <p:spPr>
          <a:xfrm>
            <a:off x="121785" y="1463305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Shambhala harmonizations:</a:t>
            </a:r>
            <a:endParaRPr sz="2100"/>
          </a:p>
        </p:txBody>
      </p:sp>
      <p:sp>
        <p:nvSpPr>
          <p:cNvPr id="314" name="Google Shape;314;p13"/>
          <p:cNvSpPr/>
          <p:nvPr/>
        </p:nvSpPr>
        <p:spPr>
          <a:xfrm>
            <a:off x="121775" y="1821072"/>
            <a:ext cx="11594700" cy="12006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13275" y="1822183"/>
            <a:ext cx="1141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████████████████████████████████████████████████████████████████  100%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1,297 / 1,296 expected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18 P/Q variants × 3 imputations × 12 strategies × 2 post_rm variants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(One extra file is an exploratory speed-up test.)</a:t>
            </a:r>
            <a:endParaRPr sz="2100"/>
          </a:p>
        </p:txBody>
      </p:sp>
      <p:sp>
        <p:nvSpPr>
          <p:cNvPr id="316" name="Google Shape;316;p13"/>
          <p:cNvSpPr/>
          <p:nvPr/>
        </p:nvSpPr>
        <p:spPr>
          <a:xfrm>
            <a:off x="121825" y="3113347"/>
            <a:ext cx="11594700" cy="411600"/>
          </a:xfrm>
          <a:prstGeom prst="rect">
            <a:avLst/>
          </a:prstGeom>
          <a:solidFill>
            <a:srgbClr val="E8F4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213275" y="3045850"/>
            <a:ext cx="11411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All 1,296 Shambhala harmonizations complete.</a:t>
            </a:r>
            <a:endParaRPr sz="2600"/>
          </a:p>
        </p:txBody>
      </p:sp>
      <p:sp>
        <p:nvSpPr>
          <p:cNvPr id="318" name="Google Shape;318;p13"/>
          <p:cNvSpPr txBox="1"/>
          <p:nvPr/>
        </p:nvSpPr>
        <p:spPr>
          <a:xfrm>
            <a:off x="121785" y="3557443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All-methods expression files on S3 (Shambhala + all other 39 methods):</a:t>
            </a:r>
            <a:endParaRPr sz="2100"/>
          </a:p>
        </p:txBody>
      </p:sp>
      <p:sp>
        <p:nvSpPr>
          <p:cNvPr id="319" name="Google Shape;319;p13"/>
          <p:cNvSpPr/>
          <p:nvPr/>
        </p:nvSpPr>
        <p:spPr>
          <a:xfrm>
            <a:off x="121775" y="3990149"/>
            <a:ext cx="11594700" cy="8619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213225" y="4081595"/>
            <a:ext cx="1141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████████████████████████████████████████████████████████░░░░░░░░  75%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3,282 total  (Shambhala: 1,297  |  Other methods: 1,985)</a:t>
            </a:r>
            <a:endParaRPr sz="2100"/>
          </a:p>
        </p:txBody>
      </p:sp>
      <p:sp>
        <p:nvSpPr>
          <p:cNvPr id="321" name="Google Shape;321;p13"/>
          <p:cNvSpPr txBox="1"/>
          <p:nvPr/>
        </p:nvSpPr>
        <p:spPr>
          <a:xfrm>
            <a:off x="121775" y="5074798"/>
            <a:ext cx="1159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12 strategies covered: S0 (all samples), A–I batch exclusion variants, C RNA-seq only, D malignant only, F–H platform subsets, I rare-batch removal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39 normalization methods × 11 strategies × 4 imputation × 2 post_rm = 3,432 S3 outputs (target)</a:t>
            </a:r>
            <a:endParaRPr sz="2300"/>
          </a:p>
        </p:txBody>
      </p:sp>
      <p:cxnSp>
        <p:nvCxnSpPr>
          <p:cNvPr id="322" name="Google Shape;322;p13"/>
          <p:cNvCxnSpPr/>
          <p:nvPr/>
        </p:nvCxnSpPr>
        <p:spPr>
          <a:xfrm flipH="1">
            <a:off x="8700200" y="3926150"/>
            <a:ext cx="464700" cy="20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Progress: Metrics Files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365760" y="1097280"/>
            <a:ext cx="115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S3 bucket: $FL_S3_BUCKET/FL_batch_correction/metrics/   |   Log date: 2026-05-26</a:t>
            </a:r>
            <a:endParaRPr sz="2100"/>
          </a:p>
        </p:txBody>
      </p:sp>
      <p:sp>
        <p:nvSpPr>
          <p:cNvPr id="331" name="Google Shape;331;p14"/>
          <p:cNvSpPr txBox="1"/>
          <p:nvPr/>
        </p:nvSpPr>
        <p:spPr>
          <a:xfrm>
            <a:off x="145760" y="1589243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Shambhala metrics calculated:</a:t>
            </a:r>
            <a:endParaRPr sz="2100"/>
          </a:p>
        </p:txBody>
      </p:sp>
      <p:sp>
        <p:nvSpPr>
          <p:cNvPr id="332" name="Google Shape;332;p14"/>
          <p:cNvSpPr/>
          <p:nvPr/>
        </p:nvSpPr>
        <p:spPr>
          <a:xfrm>
            <a:off x="145750" y="2049204"/>
            <a:ext cx="11814600" cy="9234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255700" y="2069120"/>
            <a:ext cx="1141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████████████████████████████████░░░░░░░░░░░░░░░░░░░░░░░░░░░░░░  45%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579 / 1,296 expected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Started 2026-05-24 on fl-metrics pod</a:t>
            </a:r>
            <a:endParaRPr sz="2100"/>
          </a:p>
        </p:txBody>
      </p:sp>
      <p:sp>
        <p:nvSpPr>
          <p:cNvPr id="334" name="Google Shape;334;p14"/>
          <p:cNvSpPr txBox="1"/>
          <p:nvPr/>
        </p:nvSpPr>
        <p:spPr>
          <a:xfrm>
            <a:off x="164210" y="3213817"/>
            <a:ext cx="115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All-methods metrics on S3:</a:t>
            </a:r>
            <a:endParaRPr sz="2100"/>
          </a:p>
        </p:txBody>
      </p:sp>
      <p:sp>
        <p:nvSpPr>
          <p:cNvPr id="335" name="Google Shape;335;p14"/>
          <p:cNvSpPr/>
          <p:nvPr/>
        </p:nvSpPr>
        <p:spPr>
          <a:xfrm>
            <a:off x="145750" y="3633838"/>
            <a:ext cx="11814600" cy="7044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255700" y="3635807"/>
            <a:ext cx="1141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████████████████████████████████████████████████████░░░░░░░░░░░░  66%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2,401 total  (Shambhala: 579  |  Other methods: 1,822)</a:t>
            </a:r>
            <a:endParaRPr sz="2100"/>
          </a:p>
        </p:txBody>
      </p:sp>
      <p:sp>
        <p:nvSpPr>
          <p:cNvPr id="337" name="Google Shape;337;p14"/>
          <p:cNvSpPr txBox="1"/>
          <p:nvPr/>
        </p:nvSpPr>
        <p:spPr>
          <a:xfrm>
            <a:off x="255710" y="4551868"/>
            <a:ext cx="1159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Metrics date range for Shambhala: 2026-05-24 15:40 → 2026-05-26 13:05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Completed Shambhala metrics strategies: A, B, C, D, E1, E2, E3, S0 ✓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• In progress: F, G, H, I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Expected completion: ~2026-05-28 (2 more days from log date)</a:t>
            </a:r>
            <a:endParaRPr sz="2100"/>
          </a:p>
        </p:txBody>
      </p:sp>
      <p:sp>
        <p:nvSpPr>
          <p:cNvPr id="338" name="Google Shape;338;p14"/>
          <p:cNvSpPr/>
          <p:nvPr/>
        </p:nvSpPr>
        <p:spPr>
          <a:xfrm>
            <a:off x="145750" y="6027576"/>
            <a:ext cx="11814600" cy="704400"/>
          </a:xfrm>
          <a:prstGeom prst="rect">
            <a:avLst/>
          </a:prstGeom>
          <a:solidFill>
            <a:srgbClr val="FFF0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228625" y="6085475"/>
            <a:ext cx="1165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Once metrics complete: aggregate into shambhala_metrics.csv  →  load into harmonization_metrics_analysis.ipynb  →  rank all 18 P/Q variants by batch metrics and select best for downstream SOM analysis.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157735" y="1267180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Built and deployed:</a:t>
            </a:r>
            <a:endParaRPr sz="2200"/>
          </a:p>
        </p:txBody>
      </p:sp>
      <p:sp>
        <p:nvSpPr>
          <p:cNvPr id="348" name="Google Shape;348;p15"/>
          <p:cNvSpPr txBox="1"/>
          <p:nvPr/>
        </p:nvSpPr>
        <p:spPr>
          <a:xfrm>
            <a:off x="109450" y="1614350"/>
            <a:ext cx="11850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Pure-Python Shambhala pipeline — no R, no rpy2, no intermediate files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30-worker parallelization (shambhala-workers): 9 h → 1–2 h for P0std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A_E speed-up approved: 8.6× lab / ~10× real-world throughput gain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1,296 Shambhala expression harmonizations — 100% complete</a:t>
            </a:r>
            <a:endParaRPr sz="2200"/>
          </a:p>
        </p:txBody>
      </p:sp>
      <p:sp>
        <p:nvSpPr>
          <p:cNvPr id="349" name="Google Shape;349;p15"/>
          <p:cNvSpPr txBox="1"/>
          <p:nvPr/>
        </p:nvSpPr>
        <p:spPr>
          <a:xfrm>
            <a:off x="157735" y="2980155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D37C00"/>
                </a:solidFill>
                <a:latin typeface="Calibri"/>
                <a:ea typeface="Calibri"/>
                <a:cs typeface="Calibri"/>
                <a:sym typeface="Calibri"/>
              </a:rPr>
              <a:t>Running now:</a:t>
            </a:r>
            <a:endParaRPr sz="2200"/>
          </a:p>
        </p:txBody>
      </p:sp>
      <p:sp>
        <p:nvSpPr>
          <p:cNvPr id="350" name="Google Shape;350;p15"/>
          <p:cNvSpPr txBox="1"/>
          <p:nvPr/>
        </p:nvSpPr>
        <p:spPr>
          <a:xfrm>
            <a:off x="109460" y="3437843"/>
            <a:ext cx="11594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Metrics: 579/1,296 Shambhala files done (~45%); projected completion ~2026-05-28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Once complete → aggregate into shambhala_metrics.csv → load into harmonization_metrics_analysis.ipynb</a:t>
            </a:r>
            <a:endParaRPr sz="2200"/>
          </a:p>
        </p:txBody>
      </p:sp>
      <p:sp>
        <p:nvSpPr>
          <p:cNvPr id="351" name="Google Shape;351;p15"/>
          <p:cNvSpPr txBox="1"/>
          <p:nvPr/>
        </p:nvSpPr>
        <p:spPr>
          <a:xfrm>
            <a:off x="157735" y="4188055"/>
            <a:ext cx="1159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Open questions:</a:t>
            </a:r>
            <a:endParaRPr sz="2200"/>
          </a:p>
        </p:txBody>
      </p:sp>
      <p:sp>
        <p:nvSpPr>
          <p:cNvPr id="352" name="Google Shape;352;p15"/>
          <p:cNvSpPr txBox="1"/>
          <p:nvPr/>
        </p:nvSpPr>
        <p:spPr>
          <a:xfrm>
            <a:off x="157735" y="4508055"/>
            <a:ext cx="11594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Which P/Q combination performs best by batch metrics? (answer pending metrics completion)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Should Shambhala runs be restricted to RNA-seq only (same decision as for SOM pipeline)?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Is the normal B cell Q reference (QNBKass) biologically more appropriate for FL cohorts than GTEx (Q0std)?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Are B-cell-specific P/Q references (NBlegacy, NBext, &gt;700 samples) at risk of over-calibrating toward normal B-cell baseline and compressing tumor subtype signal?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59" name="Google Shape;359;p16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 Work — Next Steps</a:t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365760" y="1097280"/>
            <a:ext cx="11594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• 1. Presentation on Shambhala and its adaptation — document normalization runs before/after speed-up; present quantitative throughput improvement and parallelization approach.  (This presentation.)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2. Comparison of test dataset before and after speed-up — show output expression values do not change materially (1.39% mean relative diff); explain what was accelerated.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• 3. Verify completeness of harmonizations; estimate per-run time per Shambhala variant via AWS S3 file listing timestamps.  (Done — Slides 10 and 12–13.)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4. Select best Shambhala attempt from those available by Wednesday evening — once metrics complete, rank all 18 P/Q variants and pick top performer for downstream SOM analysis.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5. Continue trend analysis — extend harmonization_metrics_analysis.ipynb with Shambhala results; compare with the 39-method benchmark.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6. Propose a decision tree — document normalization choice logic (platform, imputation, post-removal) as a practical decision tree for the manuscript.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7. Start writing the article — begin drafting the harmonization benchmark methods and results section.</a:t>
            </a:r>
            <a:endParaRPr sz="2300"/>
          </a:p>
        </p:txBody>
      </p:sp>
      <p:sp>
        <p:nvSpPr>
          <p:cNvPr id="361" name="Google Shape;361;p16"/>
          <p:cNvSpPr txBox="1"/>
          <p:nvPr/>
        </p:nvSpPr>
        <p:spPr>
          <a:xfrm>
            <a:off x="146785" y="6441405"/>
            <a:ext cx="1159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Generated: 2026-05-28  |  Pipeline: shambhala_adoption/Shambhala_containerized/  |  Pod: fl-shambhala</a:t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4c7dfdd20_0_12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4c7dfdd20_0_120"/>
          <p:cNvSpPr/>
          <p:nvPr/>
        </p:nvSpPr>
        <p:spPr>
          <a:xfrm>
            <a:off x="0" y="6784848"/>
            <a:ext cx="12189000" cy="7320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4c7dfdd20_0_120"/>
          <p:cNvSpPr txBox="1"/>
          <p:nvPr/>
        </p:nvSpPr>
        <p:spPr>
          <a:xfrm>
            <a:off x="731520" y="1371600"/>
            <a:ext cx="10698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 Project</a:t>
            </a:r>
            <a: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Update:</a:t>
            </a:r>
            <a:br>
              <a:rPr b="1" i="0" lang="en-US" sz="4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methods and best attempts</a:t>
            </a:r>
            <a:endParaRPr sz="2700"/>
          </a:p>
        </p:txBody>
      </p:sp>
      <p:sp>
        <p:nvSpPr>
          <p:cNvPr id="369" name="Google Shape;369;g3e4c7dfdd20_0_120"/>
          <p:cNvSpPr txBox="1"/>
          <p:nvPr/>
        </p:nvSpPr>
        <p:spPr>
          <a:xfrm>
            <a:off x="745170" y="3274070"/>
            <a:ext cx="10698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Shambhala</a:t>
            </a:r>
            <a:r>
              <a:rPr lang="en-US" sz="3100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 · Metrics · Decision tree</a:t>
            </a:r>
            <a:endParaRPr sz="2700"/>
          </a:p>
        </p:txBody>
      </p:sp>
      <p:sp>
        <p:nvSpPr>
          <p:cNvPr id="370" name="Google Shape;370;g3e4c7dfdd20_0_120"/>
          <p:cNvSpPr txBox="1"/>
          <p:nvPr/>
        </p:nvSpPr>
        <p:spPr>
          <a:xfrm>
            <a:off x="731520" y="5303520"/>
            <a:ext cx="1069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9BBDD"/>
                </a:solidFill>
                <a:latin typeface="Calibri"/>
                <a:ea typeface="Calibri"/>
                <a:cs typeface="Calibri"/>
                <a:sym typeface="Calibri"/>
              </a:rPr>
              <a:t>Daniil Nikitin  ·  BostonGene  ·  2026-05-28</a:t>
            </a:r>
            <a:endParaRPr sz="2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e4c7dfdd20_0_129"/>
          <p:cNvPicPr preferRelativeResize="0"/>
          <p:nvPr/>
        </p:nvPicPr>
        <p:blipFill rotWithShape="1">
          <a:blip r:embed="rId3">
            <a:alphaModFix/>
          </a:blip>
          <a:srcRect b="0" l="2229" r="0" t="7961"/>
          <a:stretch/>
        </p:blipFill>
        <p:spPr>
          <a:xfrm>
            <a:off x="0" y="1062850"/>
            <a:ext cx="12244768" cy="45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e4c7dfdd20_0_129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4c7dfdd20_0_129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status as of May 28: 2930/3200 harmonization attempts do have their metrics. Heatmap of metrics number by attempt</a:t>
            </a:r>
            <a:endParaRPr/>
          </a:p>
        </p:txBody>
      </p:sp>
      <p:sp>
        <p:nvSpPr>
          <p:cNvPr id="378" name="Google Shape;378;g3e4c7dfdd20_0_129"/>
          <p:cNvSpPr txBox="1"/>
          <p:nvPr/>
        </p:nvSpPr>
        <p:spPr>
          <a:xfrm>
            <a:off x="7368435" y="3310397"/>
            <a:ext cx="3063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75" lIns="93775" spcFirstLastPara="1" rIns="93775" wrap="square" tIns="93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6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calculated</a:t>
            </a:r>
            <a:endParaRPr i="1" sz="256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4c7dfdd20_0_129"/>
          <p:cNvSpPr txBox="1"/>
          <p:nvPr/>
        </p:nvSpPr>
        <p:spPr>
          <a:xfrm>
            <a:off x="7175504" y="2102893"/>
            <a:ext cx="32565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75" lIns="93775" spcFirstLastPara="1" rIns="93775" wrap="square" tIns="93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6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shambhala with more metrics</a:t>
            </a:r>
            <a:endParaRPr i="1" sz="256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4c7dfdd20_0_129"/>
          <p:cNvSpPr txBox="1"/>
          <p:nvPr/>
        </p:nvSpPr>
        <p:spPr>
          <a:xfrm>
            <a:off x="818719" y="2181820"/>
            <a:ext cx="32565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75" lIns="93775" spcFirstLastPara="1" rIns="93775" wrap="square" tIns="93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5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 calculations</a:t>
            </a:r>
            <a:r>
              <a:rPr i="1" lang="en-US" sz="205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shambhala with less metrics</a:t>
            </a:r>
            <a:endParaRPr i="1" sz="20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e4c7dfdd20_0_129"/>
          <p:cNvPicPr preferRelativeResize="0"/>
          <p:nvPr/>
        </p:nvPicPr>
        <p:blipFill rotWithShape="1">
          <a:blip r:embed="rId4">
            <a:alphaModFix/>
          </a:blip>
          <a:srcRect b="0" l="22867" r="20405" t="0"/>
          <a:stretch/>
        </p:blipFill>
        <p:spPr>
          <a:xfrm>
            <a:off x="-2" y="5191225"/>
            <a:ext cx="1543503" cy="16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e4c7dfdd20_0_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4700" y="5547100"/>
            <a:ext cx="1058625" cy="576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g3e4c7dfdd20_0_129"/>
          <p:cNvCxnSpPr/>
          <p:nvPr/>
        </p:nvCxnSpPr>
        <p:spPr>
          <a:xfrm rot="10800000">
            <a:off x="105825" y="4315525"/>
            <a:ext cx="1176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g3e4c7dfdd20_0_129"/>
          <p:cNvCxnSpPr/>
          <p:nvPr/>
        </p:nvCxnSpPr>
        <p:spPr>
          <a:xfrm rot="10800000">
            <a:off x="270500" y="4315525"/>
            <a:ext cx="1258200" cy="11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g3e4c7dfdd20_0_129"/>
          <p:cNvSpPr txBox="1"/>
          <p:nvPr/>
        </p:nvSpPr>
        <p:spPr>
          <a:xfrm rot="1937">
            <a:off x="3536890" y="4905637"/>
            <a:ext cx="2662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175" lIns="209175" spcFirstLastPara="1" rIns="209175" wrap="square" tIns="209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Normalization method</a:t>
            </a:r>
            <a:endParaRPr sz="183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g3e4c7dfdd20_0_129"/>
          <p:cNvPicPr preferRelativeResize="0"/>
          <p:nvPr/>
        </p:nvPicPr>
        <p:blipFill rotWithShape="1">
          <a:blip r:embed="rId6">
            <a:alphaModFix/>
          </a:blip>
          <a:srcRect b="57242" l="0" r="0" t="4143"/>
          <a:stretch/>
        </p:blipFill>
        <p:spPr>
          <a:xfrm>
            <a:off x="3230075" y="5415980"/>
            <a:ext cx="1262192" cy="134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e4c7dfdd20_0_129"/>
          <p:cNvPicPr preferRelativeResize="0"/>
          <p:nvPr/>
        </p:nvPicPr>
        <p:blipFill rotWithShape="1">
          <a:blip r:embed="rId6">
            <a:alphaModFix/>
          </a:blip>
          <a:srcRect b="19222" l="0" r="0" t="42163"/>
          <a:stretch/>
        </p:blipFill>
        <p:spPr>
          <a:xfrm>
            <a:off x="4435300" y="5415977"/>
            <a:ext cx="1262192" cy="134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e4c7dfdd20_0_129"/>
          <p:cNvPicPr preferRelativeResize="0"/>
          <p:nvPr/>
        </p:nvPicPr>
        <p:blipFill rotWithShape="1">
          <a:blip r:embed="rId6">
            <a:alphaModFix/>
          </a:blip>
          <a:srcRect b="2" l="0" r="0" t="80514"/>
          <a:stretch/>
        </p:blipFill>
        <p:spPr>
          <a:xfrm>
            <a:off x="5396903" y="6009160"/>
            <a:ext cx="1262197" cy="6811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g3e4c7dfdd20_0_129"/>
          <p:cNvGrpSpPr/>
          <p:nvPr/>
        </p:nvGrpSpPr>
        <p:grpSpPr>
          <a:xfrm>
            <a:off x="10498450" y="4013438"/>
            <a:ext cx="1461950" cy="1415687"/>
            <a:chOff x="10498450" y="5416000"/>
            <a:chExt cx="1461950" cy="1415687"/>
          </a:xfrm>
        </p:grpSpPr>
        <p:pic>
          <p:nvPicPr>
            <p:cNvPr id="390" name="Google Shape;390;g3e4c7dfdd20_0_129"/>
            <p:cNvPicPr preferRelativeResize="0"/>
            <p:nvPr/>
          </p:nvPicPr>
          <p:blipFill rotWithShape="1">
            <a:blip r:embed="rId7">
              <a:alphaModFix/>
            </a:blip>
            <a:srcRect b="80266" l="0" r="93189" t="0"/>
            <a:stretch/>
          </p:blipFill>
          <p:spPr>
            <a:xfrm>
              <a:off x="10498450" y="5882438"/>
              <a:ext cx="830451" cy="94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g3e4c7dfdd20_0_129"/>
            <p:cNvSpPr txBox="1"/>
            <p:nvPr/>
          </p:nvSpPr>
          <p:spPr>
            <a:xfrm>
              <a:off x="11328900" y="5804975"/>
              <a:ext cx="631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g3e4c7dfdd20_0_129"/>
            <p:cNvSpPr txBox="1"/>
            <p:nvPr/>
          </p:nvSpPr>
          <p:spPr>
            <a:xfrm>
              <a:off x="11328900" y="6009175"/>
              <a:ext cx="631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g3e4c7dfdd20_0_129"/>
            <p:cNvSpPr txBox="1"/>
            <p:nvPr/>
          </p:nvSpPr>
          <p:spPr>
            <a:xfrm>
              <a:off x="11328900" y="6227975"/>
              <a:ext cx="631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g3e4c7dfdd20_0_129"/>
            <p:cNvSpPr txBox="1"/>
            <p:nvPr/>
          </p:nvSpPr>
          <p:spPr>
            <a:xfrm>
              <a:off x="11328900" y="6418750"/>
              <a:ext cx="631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g3e4c7dfdd20_0_129"/>
            <p:cNvSpPr txBox="1"/>
            <p:nvPr/>
          </p:nvSpPr>
          <p:spPr>
            <a:xfrm>
              <a:off x="10715600" y="5416000"/>
              <a:ext cx="1164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Metrics number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6" name="Google Shape;396;g3e4c7dfdd20_0_1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8425" y="5772664"/>
            <a:ext cx="906600" cy="650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4c7dfdd20_0_205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4c7dfdd20_0_205"/>
          <p:cNvSpPr txBox="1"/>
          <p:nvPr/>
        </p:nvSpPr>
        <p:spPr>
          <a:xfrm>
            <a:off x="228600" y="45720"/>
            <a:ext cx="1173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Palettes for metrics clustermap</a:t>
            </a:r>
            <a:endParaRPr sz="2000"/>
          </a:p>
        </p:txBody>
      </p:sp>
      <p:pic>
        <p:nvPicPr>
          <p:cNvPr id="403" name="Google Shape;403;g3e4c7dfdd20_0_205"/>
          <p:cNvPicPr preferRelativeResize="0"/>
          <p:nvPr/>
        </p:nvPicPr>
        <p:blipFill rotWithShape="1">
          <a:blip r:embed="rId3">
            <a:alphaModFix/>
          </a:blip>
          <a:srcRect b="0" l="22867" r="20405" t="0"/>
          <a:stretch/>
        </p:blipFill>
        <p:spPr>
          <a:xfrm>
            <a:off x="4622551" y="1392138"/>
            <a:ext cx="2042396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e4c7dfdd20_0_2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8325" y="1821125"/>
            <a:ext cx="1523573" cy="82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e4c7dfdd20_0_2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632" y="4945926"/>
            <a:ext cx="1156992" cy="8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e4c7dfdd20_0_2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6924" y="4791452"/>
            <a:ext cx="1200300" cy="19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e4c7dfdd20_0_2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3950" y="4945920"/>
            <a:ext cx="1439600" cy="108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e4c7dfdd20_0_2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270" y="1392151"/>
            <a:ext cx="1380575" cy="270272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e4c7dfdd20_0_205"/>
          <p:cNvSpPr txBox="1"/>
          <p:nvPr/>
        </p:nvSpPr>
        <p:spPr>
          <a:xfrm>
            <a:off x="482575" y="513300"/>
            <a:ext cx="120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/>
          </a:p>
        </p:txBody>
      </p:sp>
      <p:sp>
        <p:nvSpPr>
          <p:cNvPr id="410" name="Google Shape;410;g3e4c7dfdd20_0_205"/>
          <p:cNvSpPr txBox="1"/>
          <p:nvPr/>
        </p:nvSpPr>
        <p:spPr>
          <a:xfrm>
            <a:off x="9519800" y="560338"/>
            <a:ext cx="175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/>
          </a:p>
        </p:txBody>
      </p:sp>
      <p:sp>
        <p:nvSpPr>
          <p:cNvPr id="411" name="Google Shape;411;g3e4c7dfdd20_0_205"/>
          <p:cNvSpPr/>
          <p:nvPr/>
        </p:nvSpPr>
        <p:spPr>
          <a:xfrm>
            <a:off x="6614400" y="1905000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4c7dfdd20_0_205"/>
          <p:cNvSpPr/>
          <p:nvPr/>
        </p:nvSpPr>
        <p:spPr>
          <a:xfrm>
            <a:off x="9248213" y="1941463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4c7dfdd20_0_205"/>
          <p:cNvSpPr/>
          <p:nvPr/>
        </p:nvSpPr>
        <p:spPr>
          <a:xfrm rot="10800000">
            <a:off x="9400613" y="5114438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4c7dfdd20_0_205"/>
          <p:cNvSpPr/>
          <p:nvPr/>
        </p:nvSpPr>
        <p:spPr>
          <a:xfrm rot="10800000">
            <a:off x="7703913" y="5170363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e4c7dfdd20_0_205"/>
          <p:cNvSpPr/>
          <p:nvPr/>
        </p:nvSpPr>
        <p:spPr>
          <a:xfrm rot="10800000">
            <a:off x="6007213" y="5170363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g3e4c7dfdd20_0_205"/>
          <p:cNvCxnSpPr/>
          <p:nvPr/>
        </p:nvCxnSpPr>
        <p:spPr>
          <a:xfrm rot="10800000">
            <a:off x="4504375" y="1061275"/>
            <a:ext cx="15900" cy="58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7" name="Google Shape;417;g3e4c7dfdd20_0_20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4401" y="1915519"/>
            <a:ext cx="2196724" cy="1655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e4c7dfdd20_0_20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56795" y="5157927"/>
            <a:ext cx="2517306" cy="138287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e4c7dfdd20_0_205"/>
          <p:cNvSpPr/>
          <p:nvPr/>
        </p:nvSpPr>
        <p:spPr>
          <a:xfrm>
            <a:off x="1421450" y="2497213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4c7dfdd20_0_205"/>
          <p:cNvSpPr/>
          <p:nvPr/>
        </p:nvSpPr>
        <p:spPr>
          <a:xfrm rot="5400000">
            <a:off x="2361638" y="4118413"/>
            <a:ext cx="539700" cy="4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4c7dfdd20_0_205"/>
          <p:cNvSpPr txBox="1"/>
          <p:nvPr/>
        </p:nvSpPr>
        <p:spPr>
          <a:xfrm>
            <a:off x="504175" y="936625"/>
            <a:ext cx="115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4c7dfdd20_0_205"/>
          <p:cNvSpPr txBox="1"/>
          <p:nvPr/>
        </p:nvSpPr>
        <p:spPr>
          <a:xfrm>
            <a:off x="2752075" y="936625"/>
            <a:ext cx="115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4c7dfdd20_0_205"/>
          <p:cNvSpPr txBox="1"/>
          <p:nvPr/>
        </p:nvSpPr>
        <p:spPr>
          <a:xfrm>
            <a:off x="5115475" y="936625"/>
            <a:ext cx="115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4c7dfdd20_0_205"/>
          <p:cNvSpPr txBox="1"/>
          <p:nvPr/>
        </p:nvSpPr>
        <p:spPr>
          <a:xfrm>
            <a:off x="7513825" y="933425"/>
            <a:ext cx="1380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g3e4c7dfdd20_0_205"/>
          <p:cNvGrpSpPr/>
          <p:nvPr/>
        </p:nvGrpSpPr>
        <p:grpSpPr>
          <a:xfrm>
            <a:off x="10134250" y="1005900"/>
            <a:ext cx="2042400" cy="5958763"/>
            <a:chOff x="10134250" y="1005900"/>
            <a:chExt cx="2042400" cy="5958763"/>
          </a:xfrm>
        </p:grpSpPr>
        <p:pic>
          <p:nvPicPr>
            <p:cNvPr id="426" name="Google Shape;426;g3e4c7dfdd20_0_20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0134250" y="1005900"/>
              <a:ext cx="2042400" cy="57483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g3e4c7dfdd20_0_205"/>
            <p:cNvPicPr preferRelativeResize="0"/>
            <p:nvPr/>
          </p:nvPicPr>
          <p:blipFill rotWithShape="1">
            <a:blip r:embed="rId5">
              <a:alphaModFix/>
            </a:blip>
            <a:srcRect b="0" l="0" r="53354" t="63743"/>
            <a:stretch/>
          </p:blipFill>
          <p:spPr>
            <a:xfrm>
              <a:off x="10273050" y="6609625"/>
              <a:ext cx="445650" cy="248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g3e4c7dfdd20_0_205"/>
            <p:cNvSpPr txBox="1"/>
            <p:nvPr/>
          </p:nvSpPr>
          <p:spPr>
            <a:xfrm>
              <a:off x="10636250" y="6502963"/>
              <a:ext cx="143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Shambhala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g3e4c7dfdd20_0_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58425"/>
            <a:ext cx="12188948" cy="518388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e4c7dfdd20_0_190"/>
          <p:cNvSpPr/>
          <p:nvPr/>
        </p:nvSpPr>
        <p:spPr>
          <a:xfrm>
            <a:off x="0" y="0"/>
            <a:ext cx="12189000" cy="538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e4c7dfdd20_0_190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clustermap: 2930 harmonization attempts. Shambhala does not help</a:t>
            </a:r>
            <a:endParaRPr/>
          </a:p>
        </p:txBody>
      </p:sp>
      <p:cxnSp>
        <p:nvCxnSpPr>
          <p:cNvPr id="436" name="Google Shape;436;g3e4c7dfdd20_0_190"/>
          <p:cNvCxnSpPr/>
          <p:nvPr/>
        </p:nvCxnSpPr>
        <p:spPr>
          <a:xfrm flipH="1">
            <a:off x="2931525" y="687925"/>
            <a:ext cx="296400" cy="3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g3e4c7dfdd20_0_190"/>
          <p:cNvSpPr txBox="1"/>
          <p:nvPr/>
        </p:nvSpPr>
        <p:spPr>
          <a:xfrm>
            <a:off x="3227925" y="534625"/>
            <a:ext cx="181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Mnn, still the best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4c7dfdd20_0_190"/>
          <p:cNvSpPr txBox="1"/>
          <p:nvPr/>
        </p:nvSpPr>
        <p:spPr>
          <a:xfrm>
            <a:off x="7496300" y="2140050"/>
            <a:ext cx="218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Bad local metrics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4c7dfdd20_0_190"/>
          <p:cNvSpPr txBox="1"/>
          <p:nvPr/>
        </p:nvSpPr>
        <p:spPr>
          <a:xfrm>
            <a:off x="7496300" y="3616050"/>
            <a:ext cx="24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Good global metrics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g3e4c7dfdd20_0_190"/>
          <p:cNvCxnSpPr/>
          <p:nvPr/>
        </p:nvCxnSpPr>
        <p:spPr>
          <a:xfrm>
            <a:off x="1950350" y="898075"/>
            <a:ext cx="135600" cy="1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g3e4c7dfdd20_0_190"/>
          <p:cNvSpPr txBox="1"/>
          <p:nvPr/>
        </p:nvSpPr>
        <p:spPr>
          <a:xfrm>
            <a:off x="0" y="534625"/>
            <a:ext cx="279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Shambhala slightly improves RNASeq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g3e4c7dfdd20_0_190"/>
          <p:cNvCxnSpPr/>
          <p:nvPr/>
        </p:nvCxnSpPr>
        <p:spPr>
          <a:xfrm flipH="1">
            <a:off x="5820950" y="840775"/>
            <a:ext cx="822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g3e4c7dfdd20_0_190"/>
          <p:cNvSpPr txBox="1"/>
          <p:nvPr/>
        </p:nvSpPr>
        <p:spPr>
          <a:xfrm>
            <a:off x="3563050" y="-64675"/>
            <a:ext cx="338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e4c7dfdd20_0_190"/>
          <p:cNvSpPr txBox="1"/>
          <p:nvPr/>
        </p:nvSpPr>
        <p:spPr>
          <a:xfrm>
            <a:off x="5261800" y="473125"/>
            <a:ext cx="1499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Angel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4c7dfdd20_0_190"/>
          <p:cNvSpPr txBox="1"/>
          <p:nvPr/>
        </p:nvSpPr>
        <p:spPr>
          <a:xfrm>
            <a:off x="100275" y="6016825"/>
            <a:ext cx="11668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Shambhala helps to improve RNASeq only harmonization, but does not help to cross-harmonize RNASeq and Microarrays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446" name="Google Shape;446;g3e4c7dfdd20_0_190"/>
          <p:cNvCxnSpPr/>
          <p:nvPr/>
        </p:nvCxnSpPr>
        <p:spPr>
          <a:xfrm>
            <a:off x="228600" y="1551800"/>
            <a:ext cx="135600" cy="1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g3e4c7dfdd20_0_190"/>
          <p:cNvSpPr txBox="1"/>
          <p:nvPr/>
        </p:nvSpPr>
        <p:spPr>
          <a:xfrm>
            <a:off x="-51425" y="981025"/>
            <a:ext cx="102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with many NAs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g3e4c7dfdd20_0_190"/>
          <p:cNvCxnSpPr/>
          <p:nvPr/>
        </p:nvCxnSpPr>
        <p:spPr>
          <a:xfrm flipH="1">
            <a:off x="10153300" y="901825"/>
            <a:ext cx="81000" cy="1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g3e4c7dfdd20_0_190"/>
          <p:cNvSpPr txBox="1"/>
          <p:nvPr/>
        </p:nvSpPr>
        <p:spPr>
          <a:xfrm>
            <a:off x="9685700" y="473125"/>
            <a:ext cx="1499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4c7dfdd20_0_16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4c7dfdd20_0_164"/>
          <p:cNvSpPr txBox="1"/>
          <p:nvPr/>
        </p:nvSpPr>
        <p:spPr>
          <a:xfrm>
            <a:off x="228600" y="45720"/>
            <a:ext cx="1173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shambhala attempts: BAD</a:t>
            </a:r>
            <a:endParaRPr sz="3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d06a745bb_0_3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d06a745bb_0_34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RNASeq only b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 shambhala attempts by PCA: no mixing of FF and FFPE. Worse than </a:t>
            </a:r>
            <a:r>
              <a:rPr b="1" lang="en-U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SVA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62" name="Google Shape;462;g3ed06a745bb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925" y="1005899"/>
            <a:ext cx="11375101" cy="44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ed06a745bb_0_34"/>
          <p:cNvPicPr preferRelativeResize="0"/>
          <p:nvPr/>
        </p:nvPicPr>
        <p:blipFill rotWithShape="1">
          <a:blip r:embed="rId6">
            <a:alphaModFix/>
          </a:blip>
          <a:srcRect b="43469" l="17225" r="60253" t="36041"/>
          <a:stretch/>
        </p:blipFill>
        <p:spPr>
          <a:xfrm>
            <a:off x="406925" y="5493739"/>
            <a:ext cx="2194576" cy="1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ed06a745bb_0_34"/>
          <p:cNvPicPr preferRelativeResize="0"/>
          <p:nvPr/>
        </p:nvPicPr>
        <p:blipFill rotWithShape="1">
          <a:blip r:embed="rId7">
            <a:alphaModFix/>
          </a:blip>
          <a:srcRect b="31230" l="19527" r="19490" t="31733"/>
          <a:stretch/>
        </p:blipFill>
        <p:spPr>
          <a:xfrm>
            <a:off x="677740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d06a745bb_0_4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d06a745bb_0_44"/>
          <p:cNvSpPr txBox="1"/>
          <p:nvPr/>
        </p:nvSpPr>
        <p:spPr>
          <a:xfrm>
            <a:off x="228575" y="-5588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RNASeq only best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shambhala attempts by UMAP: no mixing of FF and FFPE. Worse than </a:t>
            </a:r>
            <a:r>
              <a:rPr b="1" lang="en-U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SVA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71" name="Google Shape;471;g3ed06a745bb_0_44"/>
          <p:cNvPicPr preferRelativeResize="0"/>
          <p:nvPr/>
        </p:nvPicPr>
        <p:blipFill rotWithShape="1">
          <a:blip r:embed="rId4">
            <a:alphaModFix/>
          </a:blip>
          <a:srcRect b="43469" l="17225" r="60253" t="36041"/>
          <a:stretch/>
        </p:blipFill>
        <p:spPr>
          <a:xfrm>
            <a:off x="406925" y="5493739"/>
            <a:ext cx="2194576" cy="1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ed06a745bb_0_44"/>
          <p:cNvPicPr preferRelativeResize="0"/>
          <p:nvPr/>
        </p:nvPicPr>
        <p:blipFill rotWithShape="1">
          <a:blip r:embed="rId5">
            <a:alphaModFix/>
          </a:blip>
          <a:srcRect b="31230" l="19527" r="19490" t="31733"/>
          <a:stretch/>
        </p:blipFill>
        <p:spPr>
          <a:xfrm>
            <a:off x="677740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ed06a745bb_0_44"/>
          <p:cNvPicPr preferRelativeResize="0"/>
          <p:nvPr/>
        </p:nvPicPr>
        <p:blipFill rotWithShape="1">
          <a:blip r:embed="rId6">
            <a:alphaModFix/>
          </a:blip>
          <a:srcRect b="0" l="0" r="0" t="5060"/>
          <a:stretch/>
        </p:blipFill>
        <p:spPr>
          <a:xfrm>
            <a:off x="-1525" y="927100"/>
            <a:ext cx="12192000" cy="456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d06a745bb_0_5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d06a745bb_0_54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RNASeq only best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shambhala attempts by tSNE: no mixing of FF and FFPE. Worse than </a:t>
            </a:r>
            <a:r>
              <a:rPr b="1" lang="en-US" sz="26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SVA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480" name="Google Shape;480;g3ed06a745bb_0_54"/>
          <p:cNvPicPr preferRelativeResize="0"/>
          <p:nvPr/>
        </p:nvPicPr>
        <p:blipFill rotWithShape="1">
          <a:blip r:embed="rId4">
            <a:alphaModFix/>
          </a:blip>
          <a:srcRect b="43469" l="17225" r="60253" t="36041"/>
          <a:stretch/>
        </p:blipFill>
        <p:spPr>
          <a:xfrm>
            <a:off x="406925" y="5493739"/>
            <a:ext cx="2194576" cy="1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ed06a745bb_0_54"/>
          <p:cNvPicPr preferRelativeResize="0"/>
          <p:nvPr/>
        </p:nvPicPr>
        <p:blipFill rotWithShape="1">
          <a:blip r:embed="rId5">
            <a:alphaModFix/>
          </a:blip>
          <a:srcRect b="31230" l="19527" r="19490" t="31733"/>
          <a:stretch/>
        </p:blipFill>
        <p:spPr>
          <a:xfrm>
            <a:off x="677740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ed06a745bb_0_54"/>
          <p:cNvPicPr preferRelativeResize="0"/>
          <p:nvPr/>
        </p:nvPicPr>
        <p:blipFill rotWithShape="1">
          <a:blip r:embed="rId6">
            <a:alphaModFix/>
          </a:blip>
          <a:srcRect b="0" l="0" r="0" t="3929"/>
          <a:stretch/>
        </p:blipFill>
        <p:spPr>
          <a:xfrm>
            <a:off x="-1500" y="938525"/>
            <a:ext cx="12192000" cy="46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d06a745bb_0_28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ed06a745bb_0_28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Shambhala attempts for Malignant only: again no mixing, PCA</a:t>
            </a:r>
            <a:endParaRPr/>
          </a:p>
        </p:txBody>
      </p:sp>
      <p:pic>
        <p:nvPicPr>
          <p:cNvPr id="489" name="Google Shape;489;g3ed06a745bb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05899"/>
            <a:ext cx="11482301" cy="453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ed06a745bb_0_28"/>
          <p:cNvPicPr preferRelativeResize="0"/>
          <p:nvPr/>
        </p:nvPicPr>
        <p:blipFill rotWithShape="1">
          <a:blip r:embed="rId4">
            <a:alphaModFix/>
          </a:blip>
          <a:srcRect b="31230" l="19527" r="19490" t="31733"/>
          <a:stretch/>
        </p:blipFill>
        <p:spPr>
          <a:xfrm>
            <a:off x="866615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g3ed06a745bb_0_28"/>
          <p:cNvGrpSpPr/>
          <p:nvPr/>
        </p:nvGrpSpPr>
        <p:grpSpPr>
          <a:xfrm>
            <a:off x="10" y="5226077"/>
            <a:ext cx="7749046" cy="1631911"/>
            <a:chOff x="4440200" y="4964364"/>
            <a:chExt cx="8395500" cy="1768051"/>
          </a:xfrm>
        </p:grpSpPr>
        <p:pic>
          <p:nvPicPr>
            <p:cNvPr id="492" name="Google Shape;492;g3ed06a745bb_0_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40200" y="4964364"/>
              <a:ext cx="2052124" cy="141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g3ed06a745bb_0_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39475" y="4993774"/>
              <a:ext cx="2295325" cy="17386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g3ed06a745bb_0_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17375" y="4993775"/>
              <a:ext cx="2247509" cy="138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g3ed06a745bb_0_2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616225" y="4964375"/>
              <a:ext cx="2219475" cy="1464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d06a745bb_0_107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ed06a745bb_0_107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Shambhala attempts for Malignant only: again no mixing, UMAP</a:t>
            </a:r>
            <a:endParaRPr/>
          </a:p>
        </p:txBody>
      </p:sp>
      <p:pic>
        <p:nvPicPr>
          <p:cNvPr id="502" name="Google Shape;502;g3ed06a745bb_0_107"/>
          <p:cNvPicPr preferRelativeResize="0"/>
          <p:nvPr/>
        </p:nvPicPr>
        <p:blipFill rotWithShape="1">
          <a:blip r:embed="rId3">
            <a:alphaModFix/>
          </a:blip>
          <a:srcRect b="31230" l="19527" r="19490" t="31733"/>
          <a:stretch/>
        </p:blipFill>
        <p:spPr>
          <a:xfrm>
            <a:off x="866615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3" name="Google Shape;503;g3ed06a745bb_0_107"/>
          <p:cNvGrpSpPr/>
          <p:nvPr/>
        </p:nvGrpSpPr>
        <p:grpSpPr>
          <a:xfrm>
            <a:off x="10" y="5226077"/>
            <a:ext cx="7749046" cy="1631911"/>
            <a:chOff x="4440200" y="4964364"/>
            <a:chExt cx="8395500" cy="1768051"/>
          </a:xfrm>
        </p:grpSpPr>
        <p:pic>
          <p:nvPicPr>
            <p:cNvPr id="504" name="Google Shape;504;g3ed06a745bb_0_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40200" y="4964364"/>
              <a:ext cx="2052124" cy="141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g3ed06a745bb_0_10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39475" y="4993774"/>
              <a:ext cx="2295325" cy="17386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g3ed06a745bb_0_10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717375" y="4993775"/>
              <a:ext cx="2247509" cy="138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g3ed06a745bb_0_10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616225" y="4964375"/>
              <a:ext cx="2219475" cy="1464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8" name="Google Shape;508;g3ed06a745bb_0_1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500" y="651463"/>
            <a:ext cx="11731802" cy="462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d06a745bb_0_122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d06a745bb_0_122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Shambhala attempts for Malignant only: again no mixing, tSNE</a:t>
            </a:r>
            <a:endParaRPr/>
          </a:p>
        </p:txBody>
      </p:sp>
      <p:pic>
        <p:nvPicPr>
          <p:cNvPr id="515" name="Google Shape;515;g3ed06a745bb_0_122"/>
          <p:cNvPicPr preferRelativeResize="0"/>
          <p:nvPr/>
        </p:nvPicPr>
        <p:blipFill rotWithShape="1">
          <a:blip r:embed="rId3">
            <a:alphaModFix/>
          </a:blip>
          <a:srcRect b="31230" l="19527" r="19490" t="31733"/>
          <a:stretch/>
        </p:blipFill>
        <p:spPr>
          <a:xfrm>
            <a:off x="8666150" y="5436900"/>
            <a:ext cx="3522851" cy="142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" name="Google Shape;516;g3ed06a745bb_0_122"/>
          <p:cNvGrpSpPr/>
          <p:nvPr/>
        </p:nvGrpSpPr>
        <p:grpSpPr>
          <a:xfrm>
            <a:off x="10" y="5226077"/>
            <a:ext cx="7749046" cy="1631911"/>
            <a:chOff x="4440200" y="4964364"/>
            <a:chExt cx="8395500" cy="1768051"/>
          </a:xfrm>
        </p:grpSpPr>
        <p:pic>
          <p:nvPicPr>
            <p:cNvPr id="517" name="Google Shape;517;g3ed06a745bb_0_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40200" y="4964364"/>
              <a:ext cx="2052124" cy="141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g3ed06a745bb_0_1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39475" y="4993774"/>
              <a:ext cx="2295325" cy="17386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g3ed06a745bb_0_1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717375" y="4993775"/>
              <a:ext cx="2247509" cy="138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g3ed06a745bb_0_1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616225" y="4964375"/>
              <a:ext cx="2219475" cy="1464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1" name="Google Shape;521;g3ed06a745bb_0_1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8588" y="640988"/>
            <a:ext cx="11895763" cy="46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ed06a745bb_0_6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ed06a745bb_0_64"/>
          <p:cNvSpPr txBox="1"/>
          <p:nvPr/>
        </p:nvSpPr>
        <p:spPr>
          <a:xfrm>
            <a:off x="228600" y="45720"/>
            <a:ext cx="117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 for harmonization approaches, draft</a:t>
            </a:r>
            <a:endParaRPr/>
          </a:p>
        </p:txBody>
      </p:sp>
      <p:sp>
        <p:nvSpPr>
          <p:cNvPr id="528" name="Google Shape;528;g3ed06a745bb_0_64"/>
          <p:cNvSpPr txBox="1"/>
          <p:nvPr/>
        </p:nvSpPr>
        <p:spPr>
          <a:xfrm>
            <a:off x="341329" y="2198575"/>
            <a:ext cx="72420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 FF only or FFPE-only</a:t>
            </a:r>
            <a:endParaRPr sz="27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RNASeq only -&gt; SVA</a:t>
            </a:r>
            <a:endParaRPr sz="27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RNASeq + Microarrays -&gt; MNN + post-removal by visual inspection</a:t>
            </a:r>
            <a:endParaRPr sz="27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g3ed06a745bb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821" y="1409052"/>
            <a:ext cx="2847124" cy="5323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g3ed06a745bb_0_64"/>
          <p:cNvCxnSpPr/>
          <p:nvPr/>
        </p:nvCxnSpPr>
        <p:spPr>
          <a:xfrm>
            <a:off x="10098950" y="1990475"/>
            <a:ext cx="1709700" cy="146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g3ed06a745bb_0_64"/>
          <p:cNvCxnSpPr/>
          <p:nvPr/>
        </p:nvCxnSpPr>
        <p:spPr>
          <a:xfrm flipH="1" rot="10800000">
            <a:off x="10098950" y="1880525"/>
            <a:ext cx="1611900" cy="408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d06a745bb_0_73"/>
          <p:cNvSpPr/>
          <p:nvPr/>
        </p:nvSpPr>
        <p:spPr>
          <a:xfrm>
            <a:off x="0" y="0"/>
            <a:ext cx="3637800" cy="2218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ed06a745bb_0_73"/>
          <p:cNvSpPr txBox="1"/>
          <p:nvPr/>
        </p:nvSpPr>
        <p:spPr>
          <a:xfrm>
            <a:off x="228600" y="45725"/>
            <a:ext cx="3409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Trends in metrics: the same two groups, local and global</a:t>
            </a:r>
            <a:endParaRPr sz="2200"/>
          </a:p>
        </p:txBody>
      </p:sp>
      <p:pic>
        <p:nvPicPr>
          <p:cNvPr id="538" name="Google Shape;538;g3ed06a745bb_0_73"/>
          <p:cNvPicPr preferRelativeResize="0"/>
          <p:nvPr/>
        </p:nvPicPr>
        <p:blipFill rotWithShape="1">
          <a:blip r:embed="rId3">
            <a:alphaModFix/>
          </a:blip>
          <a:srcRect b="15690" l="0" r="0" t="0"/>
          <a:stretch/>
        </p:blipFill>
        <p:spPr>
          <a:xfrm>
            <a:off x="3637724" y="45725"/>
            <a:ext cx="8551227" cy="68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d06a745bb_0_136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ed06a745bb_0_136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plot of harmonization attempts: no pattern, shambhala does not improve the performance</a:t>
            </a:r>
            <a:endParaRPr/>
          </a:p>
        </p:txBody>
      </p:sp>
      <p:pic>
        <p:nvPicPr>
          <p:cNvPr id="545" name="Google Shape;545;g3ed06a745bb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191" y="1005900"/>
            <a:ext cx="8334572" cy="5852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ed06a745bb_0_136"/>
          <p:cNvSpPr txBox="1"/>
          <p:nvPr/>
        </p:nvSpPr>
        <p:spPr>
          <a:xfrm>
            <a:off x="5657913" y="3275675"/>
            <a:ext cx="1858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harsh methods, bad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d06a745bb_0_147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ed06a745bb_0_147"/>
          <p:cNvSpPr txBox="1"/>
          <p:nvPr/>
        </p:nvSpPr>
        <p:spPr>
          <a:xfrm>
            <a:off x="228600" y="45720"/>
            <a:ext cx="11731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Dimensional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reduction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plots of harmonization attempts and metrics: no pattern for methods, shambhala does not differ from other approaches. Metrics form 2 groups</a:t>
            </a:r>
            <a:endParaRPr/>
          </a:p>
        </p:txBody>
      </p:sp>
      <p:pic>
        <p:nvPicPr>
          <p:cNvPr id="553" name="Google Shape;553;g3ed06a745bb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575" y="1005900"/>
            <a:ext cx="10127379" cy="585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3ed06a745bb_0_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08049"/>
            <a:ext cx="1903474" cy="5357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3ed06a745bb_0_147"/>
          <p:cNvPicPr preferRelativeResize="0"/>
          <p:nvPr/>
        </p:nvPicPr>
        <p:blipFill rotWithShape="1">
          <a:blip r:embed="rId5">
            <a:alphaModFix/>
          </a:blip>
          <a:srcRect b="0" l="0" r="53354" t="63743"/>
          <a:stretch/>
        </p:blipFill>
        <p:spPr>
          <a:xfrm>
            <a:off x="129359" y="6430611"/>
            <a:ext cx="415337" cy="23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ed06a745bb_0_147"/>
          <p:cNvSpPr txBox="1"/>
          <p:nvPr/>
        </p:nvSpPr>
        <p:spPr>
          <a:xfrm>
            <a:off x="467854" y="6331204"/>
            <a:ext cx="1341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Shambhala</a:t>
            </a:r>
            <a:endParaRPr sz="16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g3ed06a745bb_0_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8450" y="5044101"/>
            <a:ext cx="1413550" cy="77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d06a745bb_0_161"/>
          <p:cNvSpPr/>
          <p:nvPr/>
        </p:nvSpPr>
        <p:spPr>
          <a:xfrm>
            <a:off x="0" y="0"/>
            <a:ext cx="4208100" cy="26700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ed06a745bb_0_161"/>
          <p:cNvSpPr txBox="1"/>
          <p:nvPr/>
        </p:nvSpPr>
        <p:spPr>
          <a:xfrm>
            <a:off x="228600" y="45719"/>
            <a:ext cx="3878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Dimensional reduction plots of harmonization attempts: Batch removal strategy -&gt; Harmonization method -&gt; Imputation -&gt; Post-removal</a:t>
            </a:r>
            <a:endParaRPr/>
          </a:p>
        </p:txBody>
      </p:sp>
      <p:pic>
        <p:nvPicPr>
          <p:cNvPr id="564" name="Google Shape;564;g3ed06a745bb_0_161"/>
          <p:cNvPicPr preferRelativeResize="0"/>
          <p:nvPr/>
        </p:nvPicPr>
        <p:blipFill rotWithShape="1">
          <a:blip r:embed="rId3">
            <a:alphaModFix/>
          </a:blip>
          <a:srcRect b="25317" l="0" r="0" t="0"/>
          <a:stretch/>
        </p:blipFill>
        <p:spPr>
          <a:xfrm>
            <a:off x="4243145" y="0"/>
            <a:ext cx="794585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ed06a745bb_0_161"/>
          <p:cNvPicPr preferRelativeResize="0"/>
          <p:nvPr/>
        </p:nvPicPr>
        <p:blipFill rotWithShape="1">
          <a:blip r:embed="rId3">
            <a:alphaModFix/>
          </a:blip>
          <a:srcRect b="0" l="0" r="0" t="74859"/>
          <a:stretch/>
        </p:blipFill>
        <p:spPr>
          <a:xfrm>
            <a:off x="35000" y="5635349"/>
            <a:ext cx="4208150" cy="12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d06a745bb_0_161"/>
          <p:cNvSpPr txBox="1"/>
          <p:nvPr/>
        </p:nvSpPr>
        <p:spPr>
          <a:xfrm>
            <a:off x="6172275" y="-108500"/>
            <a:ext cx="115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ed06a745bb_0_161"/>
          <p:cNvSpPr txBox="1"/>
          <p:nvPr/>
        </p:nvSpPr>
        <p:spPr>
          <a:xfrm>
            <a:off x="6240275" y="2193000"/>
            <a:ext cx="181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removal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ed06a745bb_0_161"/>
          <p:cNvSpPr txBox="1"/>
          <p:nvPr/>
        </p:nvSpPr>
        <p:spPr>
          <a:xfrm>
            <a:off x="6308250" y="4494500"/>
            <a:ext cx="181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Imputation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ed06a745bb_0_161"/>
          <p:cNvSpPr txBox="1"/>
          <p:nvPr/>
        </p:nvSpPr>
        <p:spPr>
          <a:xfrm>
            <a:off x="228600" y="2952000"/>
            <a:ext cx="3646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largest clusters are formed by batch removal strategies - especially RNA Seq only, Malignant only, Microarrays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g3ed06a745bb_0_161"/>
          <p:cNvPicPr preferRelativeResize="0"/>
          <p:nvPr/>
        </p:nvPicPr>
        <p:blipFill rotWithShape="1">
          <a:blip r:embed="rId4">
            <a:alphaModFix/>
          </a:blip>
          <a:srcRect b="0" l="22867" r="20405" t="0"/>
          <a:stretch/>
        </p:blipFill>
        <p:spPr>
          <a:xfrm>
            <a:off x="2313050" y="3917096"/>
            <a:ext cx="1562050" cy="163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ed06a745bb_0_191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ed06a745bb_0_191"/>
          <p:cNvSpPr txBox="1"/>
          <p:nvPr/>
        </p:nvSpPr>
        <p:spPr>
          <a:xfrm>
            <a:off x="69025" y="45725"/>
            <a:ext cx="12109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tSNE plots for harmonization attempts: each Batch removal attempt occupies domain space, than smaller areas are covered with Harmonization methods, and the smallest ones - by Imputations</a:t>
            </a:r>
            <a:endParaRPr sz="1100"/>
          </a:p>
        </p:txBody>
      </p:sp>
      <p:pic>
        <p:nvPicPr>
          <p:cNvPr id="577" name="Google Shape;577;g3ed06a745bb_0_191"/>
          <p:cNvPicPr preferRelativeResize="0"/>
          <p:nvPr/>
        </p:nvPicPr>
        <p:blipFill rotWithShape="1">
          <a:blip r:embed="rId3">
            <a:alphaModFix/>
          </a:blip>
          <a:srcRect b="0" l="0" r="53354" t="63743"/>
          <a:stretch/>
        </p:blipFill>
        <p:spPr>
          <a:xfrm>
            <a:off x="2527559" y="5699699"/>
            <a:ext cx="415337" cy="23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ed06a745bb_0_191"/>
          <p:cNvSpPr txBox="1"/>
          <p:nvPr/>
        </p:nvSpPr>
        <p:spPr>
          <a:xfrm>
            <a:off x="2866054" y="5600291"/>
            <a:ext cx="1341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Shambhala</a:t>
            </a:r>
            <a:endParaRPr sz="16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g3ed06a745bb_0_191"/>
          <p:cNvPicPr preferRelativeResize="0"/>
          <p:nvPr/>
        </p:nvPicPr>
        <p:blipFill rotWithShape="1">
          <a:blip r:embed="rId4">
            <a:alphaModFix/>
          </a:blip>
          <a:srcRect b="75052" l="66473" r="0" t="1656"/>
          <a:stretch/>
        </p:blipFill>
        <p:spPr>
          <a:xfrm>
            <a:off x="-10050" y="1430000"/>
            <a:ext cx="4214525" cy="338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ed06a745bb_0_191"/>
          <p:cNvPicPr preferRelativeResize="0"/>
          <p:nvPr/>
        </p:nvPicPr>
        <p:blipFill rotWithShape="1">
          <a:blip r:embed="rId4">
            <a:alphaModFix/>
          </a:blip>
          <a:srcRect b="50169" l="66473" r="0" t="26540"/>
          <a:stretch/>
        </p:blipFill>
        <p:spPr>
          <a:xfrm>
            <a:off x="3863050" y="1373550"/>
            <a:ext cx="4214550" cy="338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ed06a745bb_0_191"/>
          <p:cNvPicPr preferRelativeResize="0"/>
          <p:nvPr/>
        </p:nvPicPr>
        <p:blipFill rotWithShape="1">
          <a:blip r:embed="rId4">
            <a:alphaModFix/>
          </a:blip>
          <a:srcRect b="24768" l="66473" r="0" t="51712"/>
          <a:stretch/>
        </p:blipFill>
        <p:spPr>
          <a:xfrm>
            <a:off x="7964425" y="1373550"/>
            <a:ext cx="4214525" cy="3416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ed06a745bb_0_191"/>
          <p:cNvSpPr txBox="1"/>
          <p:nvPr/>
        </p:nvSpPr>
        <p:spPr>
          <a:xfrm>
            <a:off x="7467155" y="2993286"/>
            <a:ext cx="660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RNASeq</a:t>
            </a:r>
            <a:endParaRPr sz="1139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g3ed06a745bb_0_191"/>
          <p:cNvPicPr preferRelativeResize="0"/>
          <p:nvPr/>
        </p:nvPicPr>
        <p:blipFill rotWithShape="1">
          <a:blip r:embed="rId5">
            <a:alphaModFix/>
          </a:blip>
          <a:srcRect b="0" l="22867" r="20405" t="0"/>
          <a:stretch/>
        </p:blipFill>
        <p:spPr>
          <a:xfrm>
            <a:off x="5648025" y="4813671"/>
            <a:ext cx="1562050" cy="163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ed06a745bb_0_191"/>
          <p:cNvSpPr txBox="1"/>
          <p:nvPr/>
        </p:nvSpPr>
        <p:spPr>
          <a:xfrm>
            <a:off x="7189880" y="2106953"/>
            <a:ext cx="660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GPL570</a:t>
            </a:r>
            <a:endParaRPr sz="1139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ed06a745bb_0_191"/>
          <p:cNvSpPr txBox="1"/>
          <p:nvPr/>
        </p:nvSpPr>
        <p:spPr>
          <a:xfrm>
            <a:off x="5764214" y="2106952"/>
            <a:ext cx="11388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Affymetrix + Microarrays</a:t>
            </a:r>
            <a:endParaRPr sz="1139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ed06a745bb_0_191"/>
          <p:cNvSpPr txBox="1"/>
          <p:nvPr/>
        </p:nvSpPr>
        <p:spPr>
          <a:xfrm>
            <a:off x="5209819" y="2993286"/>
            <a:ext cx="768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sz="113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ed06a745bb_0_191"/>
          <p:cNvSpPr txBox="1"/>
          <p:nvPr/>
        </p:nvSpPr>
        <p:spPr>
          <a:xfrm>
            <a:off x="4475750" y="3789135"/>
            <a:ext cx="877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Malignant</a:t>
            </a:r>
            <a:endParaRPr sz="1139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ed06a745bb_0_191"/>
          <p:cNvSpPr txBox="1"/>
          <p:nvPr/>
        </p:nvSpPr>
        <p:spPr>
          <a:xfrm>
            <a:off x="6903028" y="3923593"/>
            <a:ext cx="43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50" lIns="94650" spcFirstLastPara="1" rIns="94650" wrap="square" tIns="9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sz="1139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g3ed06a745bb_0_1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96300" y="5533600"/>
            <a:ext cx="1523573" cy="82966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3ed06a745bb_0_191"/>
          <p:cNvSpPr txBox="1"/>
          <p:nvPr/>
        </p:nvSpPr>
        <p:spPr>
          <a:xfrm rot="1896">
            <a:off x="541987" y="4804075"/>
            <a:ext cx="2719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650" lIns="213650" spcFirstLastPara="1" rIns="213650" wrap="square" tIns="21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Normalization method</a:t>
            </a:r>
            <a:endParaRPr sz="18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g3ed06a745bb_0_191"/>
          <p:cNvPicPr preferRelativeResize="0"/>
          <p:nvPr/>
        </p:nvPicPr>
        <p:blipFill rotWithShape="1">
          <a:blip r:embed="rId7">
            <a:alphaModFix/>
          </a:blip>
          <a:srcRect b="57242" l="0" r="0" t="4143"/>
          <a:stretch/>
        </p:blipFill>
        <p:spPr>
          <a:xfrm>
            <a:off x="228600" y="5500663"/>
            <a:ext cx="1289227" cy="1378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ed06a745bb_0_191"/>
          <p:cNvPicPr preferRelativeResize="0"/>
          <p:nvPr/>
        </p:nvPicPr>
        <p:blipFill rotWithShape="1">
          <a:blip r:embed="rId7">
            <a:alphaModFix/>
          </a:blip>
          <a:srcRect b="19222" l="0" r="0" t="42163"/>
          <a:stretch/>
        </p:blipFill>
        <p:spPr>
          <a:xfrm>
            <a:off x="1459641" y="5500659"/>
            <a:ext cx="1289227" cy="1378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ed06a745bb_0_191"/>
          <p:cNvPicPr preferRelativeResize="0"/>
          <p:nvPr/>
        </p:nvPicPr>
        <p:blipFill rotWithShape="1">
          <a:blip r:embed="rId7">
            <a:alphaModFix/>
          </a:blip>
          <a:srcRect b="2" l="0" r="0" t="80514"/>
          <a:stretch/>
        </p:blipFill>
        <p:spPr>
          <a:xfrm>
            <a:off x="2441842" y="6106545"/>
            <a:ext cx="1289233" cy="69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ed06a745bb_0_191"/>
          <p:cNvSpPr txBox="1"/>
          <p:nvPr/>
        </p:nvSpPr>
        <p:spPr>
          <a:xfrm rot="1896">
            <a:off x="818612" y="898000"/>
            <a:ext cx="2719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650" lIns="213650" spcFirstLastPara="1" rIns="213650" wrap="square" tIns="21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Normalization method</a:t>
            </a:r>
            <a:endParaRPr sz="18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ed06a745bb_0_191"/>
          <p:cNvSpPr txBox="1"/>
          <p:nvPr/>
        </p:nvSpPr>
        <p:spPr>
          <a:xfrm rot="1896">
            <a:off x="5069137" y="867087"/>
            <a:ext cx="2719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650" lIns="213650" spcFirstLastPara="1" rIns="213650" wrap="square" tIns="21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9">
                <a:latin typeface="Calibri"/>
                <a:ea typeface="Calibri"/>
                <a:cs typeface="Calibri"/>
                <a:sym typeface="Calibri"/>
              </a:rPr>
              <a:t>Batch removal strategy</a:t>
            </a:r>
            <a:endParaRPr sz="18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ed06a745bb_0_191"/>
          <p:cNvSpPr txBox="1"/>
          <p:nvPr/>
        </p:nvSpPr>
        <p:spPr>
          <a:xfrm rot="1887">
            <a:off x="9763176" y="867075"/>
            <a:ext cx="16392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650" lIns="213650" spcFirstLastPara="1" rIns="213650" wrap="square" tIns="21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9">
                <a:latin typeface="Calibri"/>
                <a:ea typeface="Calibri"/>
                <a:cs typeface="Calibri"/>
                <a:sym typeface="Calibri"/>
              </a:rPr>
              <a:t>Imputation</a:t>
            </a:r>
            <a:endParaRPr sz="1869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d06a745bb_0_219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ed06a745bb_0_219"/>
          <p:cNvSpPr txBox="1"/>
          <p:nvPr/>
        </p:nvSpPr>
        <p:spPr>
          <a:xfrm>
            <a:off x="228600" y="45720"/>
            <a:ext cx="117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 by major columns by Harm methods: 5 are OK</a:t>
            </a:r>
            <a:endParaRPr sz="2400"/>
          </a:p>
        </p:txBody>
      </p:sp>
      <p:pic>
        <p:nvPicPr>
          <p:cNvPr id="603" name="Google Shape;603;g3ed06a745bb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25" y="1450400"/>
            <a:ext cx="12192000" cy="4610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4" name="Google Shape;604;g3ed06a745bb_0_219"/>
          <p:cNvCxnSpPr/>
          <p:nvPr/>
        </p:nvCxnSpPr>
        <p:spPr>
          <a:xfrm>
            <a:off x="393700" y="5355925"/>
            <a:ext cx="1071600" cy="138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g3ed06a745bb_0_219"/>
          <p:cNvSpPr txBox="1"/>
          <p:nvPr/>
        </p:nvSpPr>
        <p:spPr>
          <a:xfrm>
            <a:off x="39250" y="5442850"/>
            <a:ext cx="173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- Biology higher than batch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g3ed06a745bb_0_219"/>
          <p:cNvCxnSpPr/>
          <p:nvPr/>
        </p:nvCxnSpPr>
        <p:spPr>
          <a:xfrm flipH="1" rot="10800000">
            <a:off x="1465300" y="5348725"/>
            <a:ext cx="2302800" cy="7200"/>
          </a:xfrm>
          <a:prstGeom prst="straightConnector1">
            <a:avLst/>
          </a:prstGeom>
          <a:noFill/>
          <a:ln cap="flat" cmpd="sng" w="76200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g3ed06a745bb_0_219"/>
          <p:cNvSpPr txBox="1"/>
          <p:nvPr/>
        </p:nvSpPr>
        <p:spPr>
          <a:xfrm>
            <a:off x="1747900" y="5532450"/>
            <a:ext cx="173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So-so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Biology comparable batch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g3ed06a745bb_0_219"/>
          <p:cNvCxnSpPr/>
          <p:nvPr/>
        </p:nvCxnSpPr>
        <p:spPr>
          <a:xfrm flipH="1" rot="10800000">
            <a:off x="3815775" y="6060450"/>
            <a:ext cx="6274500" cy="297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g3ed06a745bb_0_219"/>
          <p:cNvSpPr txBox="1"/>
          <p:nvPr/>
        </p:nvSpPr>
        <p:spPr>
          <a:xfrm>
            <a:off x="5333475" y="5988400"/>
            <a:ext cx="35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-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Biology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lower than batch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g3ed06a745bb_0_219"/>
          <p:cNvCxnSpPr/>
          <p:nvPr/>
        </p:nvCxnSpPr>
        <p:spPr>
          <a:xfrm rot="10800000">
            <a:off x="9252975" y="4639975"/>
            <a:ext cx="244800" cy="10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g3e53211a51c_0_10"/>
          <p:cNvPicPr preferRelativeResize="0"/>
          <p:nvPr/>
        </p:nvPicPr>
        <p:blipFill rotWithShape="1">
          <a:blip r:embed="rId3">
            <a:alphaModFix/>
          </a:blip>
          <a:srcRect b="3770" l="0" r="24687" t="5387"/>
          <a:stretch/>
        </p:blipFill>
        <p:spPr>
          <a:xfrm>
            <a:off x="908175" y="1005900"/>
            <a:ext cx="10265008" cy="58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e53211a51c_0_10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e53211a51c_0_10"/>
          <p:cNvSpPr txBox="1"/>
          <p:nvPr/>
        </p:nvSpPr>
        <p:spPr>
          <a:xfrm>
            <a:off x="228600" y="45720"/>
            <a:ext cx="117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PCR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by major columns by Harm methods: 4 are OK</a:t>
            </a:r>
            <a:endParaRPr sz="2400"/>
          </a:p>
        </p:txBody>
      </p:sp>
      <p:cxnSp>
        <p:nvCxnSpPr>
          <p:cNvPr id="618" name="Google Shape;618;g3e53211a51c_0_10"/>
          <p:cNvCxnSpPr/>
          <p:nvPr/>
        </p:nvCxnSpPr>
        <p:spPr>
          <a:xfrm flipH="1" rot="10800000">
            <a:off x="1537600" y="4280750"/>
            <a:ext cx="727500" cy="51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g3e53211a51c_0_10"/>
          <p:cNvSpPr txBox="1"/>
          <p:nvPr/>
        </p:nvSpPr>
        <p:spPr>
          <a:xfrm>
            <a:off x="39250" y="5442850"/>
            <a:ext cx="173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- Better than RAW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g3e53211a51c_0_10"/>
          <p:cNvCxnSpPr/>
          <p:nvPr/>
        </p:nvCxnSpPr>
        <p:spPr>
          <a:xfrm>
            <a:off x="2265100" y="4273238"/>
            <a:ext cx="1123200" cy="12600"/>
          </a:xfrm>
          <a:prstGeom prst="straightConnector1">
            <a:avLst/>
          </a:prstGeom>
          <a:noFill/>
          <a:ln cap="flat" cmpd="sng" w="76200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g3e53211a51c_0_10"/>
          <p:cNvSpPr txBox="1"/>
          <p:nvPr/>
        </p:nvSpPr>
        <p:spPr>
          <a:xfrm>
            <a:off x="1776850" y="6211125"/>
            <a:ext cx="25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So-so - Like RAW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g3e53211a51c_0_10"/>
          <p:cNvCxnSpPr/>
          <p:nvPr/>
        </p:nvCxnSpPr>
        <p:spPr>
          <a:xfrm flipH="1" rot="10800000">
            <a:off x="3388300" y="4272200"/>
            <a:ext cx="7633500" cy="222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g3e53211a51c_0_10"/>
          <p:cNvSpPr txBox="1"/>
          <p:nvPr/>
        </p:nvSpPr>
        <p:spPr>
          <a:xfrm>
            <a:off x="7976650" y="5916975"/>
            <a:ext cx="35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-Worse than RAW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g3e53211a51c_0_10"/>
          <p:cNvCxnSpPr/>
          <p:nvPr/>
        </p:nvCxnSpPr>
        <p:spPr>
          <a:xfrm rot="10800000">
            <a:off x="2469925" y="4998300"/>
            <a:ext cx="42300" cy="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25" name="Google Shape;625;g3e53211a51c_0_10"/>
          <p:cNvPicPr preferRelativeResize="0"/>
          <p:nvPr/>
        </p:nvPicPr>
        <p:blipFill rotWithShape="1">
          <a:blip r:embed="rId3">
            <a:alphaModFix/>
          </a:blip>
          <a:srcRect b="83218" l="78026" r="851" t="6152"/>
          <a:stretch/>
        </p:blipFill>
        <p:spPr>
          <a:xfrm>
            <a:off x="2264975" y="1061550"/>
            <a:ext cx="2483926" cy="5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3e53211a51c_0_10"/>
          <p:cNvSpPr txBox="1"/>
          <p:nvPr/>
        </p:nvSpPr>
        <p:spPr>
          <a:xfrm>
            <a:off x="39250" y="4190100"/>
            <a:ext cx="173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 component regression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53211a51c_0_33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e53211a51c_0_33"/>
          <p:cNvSpPr txBox="1"/>
          <p:nvPr/>
        </p:nvSpPr>
        <p:spPr>
          <a:xfrm>
            <a:off x="228600" y="45720"/>
            <a:ext cx="117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2400"/>
          </a:p>
        </p:txBody>
      </p:sp>
      <p:sp>
        <p:nvSpPr>
          <p:cNvPr id="633" name="Google Shape;633;g3e53211a51c_0_33"/>
          <p:cNvSpPr txBox="1"/>
          <p:nvPr/>
        </p:nvSpPr>
        <p:spPr>
          <a:xfrm>
            <a:off x="172173" y="1233625"/>
            <a:ext cx="11844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Most harmonizers (except MNN and SVA) cannot catch subtle biological </a:t>
            </a:r>
            <a:r>
              <a:rPr lang="en-US" sz="3200"/>
              <a:t>differences between FL, DLBCL and normal GC B cells - they were devised on cohorts with large biological differences (TCGA, GTEx etc). </a:t>
            </a:r>
            <a:endParaRPr sz="3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d06a745bb_0_84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ed06a745bb_0_84"/>
          <p:cNvSpPr txBox="1"/>
          <p:nvPr/>
        </p:nvSpPr>
        <p:spPr>
          <a:xfrm>
            <a:off x="228600" y="45720"/>
            <a:ext cx="117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steps, short timeline: the first article</a:t>
            </a:r>
            <a:endParaRPr sz="2400"/>
          </a:p>
        </p:txBody>
      </p:sp>
      <p:sp>
        <p:nvSpPr>
          <p:cNvPr id="640" name="Google Shape;640;g3ed06a745bb_0_84"/>
          <p:cNvSpPr txBox="1"/>
          <p:nvPr/>
        </p:nvSpPr>
        <p:spPr>
          <a:xfrm>
            <a:off x="172173" y="1456300"/>
            <a:ext cx="118446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Add FF_only, FFPE_only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Complete the metrics analysis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Add Venn diagrams for Shambhala datasets and my cohorts of different imputations and batch removal strategies.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Decision tree, make it beautiful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Article plan: major figures structured by takeaways.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	Local vs </a:t>
            </a:r>
            <a:r>
              <a:rPr lang="en-US" sz="2800"/>
              <a:t>global metrics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	Methods harshness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	Relative importance of batch removal, harmonization, imputation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	Best approaches for each scenario</a:t>
            </a:r>
            <a:endParaRPr sz="2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e53211a51c_0_27"/>
          <p:cNvSpPr/>
          <p:nvPr/>
        </p:nvSpPr>
        <p:spPr>
          <a:xfrm>
            <a:off x="0" y="0"/>
            <a:ext cx="12189000" cy="10059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e53211a51c_0_27"/>
          <p:cNvSpPr txBox="1"/>
          <p:nvPr/>
        </p:nvSpPr>
        <p:spPr>
          <a:xfrm>
            <a:off x="74225" y="45725"/>
            <a:ext cx="12060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steps, long timeline: the second potential technical article</a:t>
            </a:r>
            <a:endParaRPr sz="2300"/>
          </a:p>
        </p:txBody>
      </p:sp>
      <p:sp>
        <p:nvSpPr>
          <p:cNvPr id="647" name="Google Shape;647;g3e53211a51c_0_27"/>
          <p:cNvSpPr txBox="1"/>
          <p:nvPr/>
        </p:nvSpPr>
        <p:spPr>
          <a:xfrm>
            <a:off x="182373" y="1159400"/>
            <a:ext cx="11844600" cy="54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Reliably pythonify CuBlock - faster and more reusable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Develop shambhala_3 that will catch subtle biological differences between FL, DLBCL etc: replace CuBlock with MNN which was successful </a:t>
            </a:r>
            <a:r>
              <a:rPr lang="en-US" sz="2300"/>
              <a:t>particularly</a:t>
            </a:r>
            <a:r>
              <a:rPr lang="en-US" sz="2300"/>
              <a:t> for the FL cohort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Add new metrics of </a:t>
            </a:r>
            <a:r>
              <a:rPr lang="en-US" sz="2300" u="sng">
                <a:solidFill>
                  <a:schemeClr val="hlink"/>
                </a:solidFill>
                <a:hlinkClick r:id="rId3"/>
              </a:rPr>
              <a:t>transfer learning</a:t>
            </a:r>
            <a:r>
              <a:rPr lang="en-US" sz="2300"/>
              <a:t>:</a:t>
            </a:r>
            <a:endParaRPr sz="2300"/>
          </a:p>
          <a:p>
            <a:pPr indent="-374650" lvl="1" marL="9144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5-fold cross-validation within the entire cohort to predict classes (DLBCL, FL, etc) -&gt; accuracy, AUC, MCC etc</a:t>
            </a:r>
            <a:endParaRPr sz="2300"/>
          </a:p>
          <a:p>
            <a:pPr indent="-374650" lvl="1" marL="9144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Take pairs of cohorts with all classes present: learn on a larger one, predict the smaller one - external applicability tested. Again accuracy, AUC etc.</a:t>
            </a:r>
            <a:endParaRPr sz="2300"/>
          </a:p>
          <a:p>
            <a:pPr indent="-374650" lvl="1" marL="9144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Study Borisov 2023 article 10.3389/fmolb.2023.1237129 and implement its approaches</a:t>
            </a:r>
            <a:endParaRPr sz="2300"/>
          </a:p>
          <a:p>
            <a:pPr indent="-374650" lvl="1" marL="9144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Randomly permute class labels and test whether the metrics are high again - the random background test</a:t>
            </a:r>
            <a:endParaRPr sz="2300"/>
          </a:p>
          <a:p>
            <a:pPr indent="-374650" lvl="1" marL="9144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How to learn and predict: test KNN, SVM, try DNN using pytorch/tensorflow.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US" sz="2300"/>
              <a:t>Add NBextended as a third Q0 dataset for shambhala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Based on all of the above, proceed with the shambhala3 and release it in the article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