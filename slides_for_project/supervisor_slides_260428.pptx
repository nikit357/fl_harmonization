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Cross-Platform Transcriptomic Harmonization
of B-Cell Lymphomas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CCEE"/>
                </a:solidFill>
              </a:rPr>
              <a:t>Benchmark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25 batch-correction methods  ×  10 sample-removal strategies
×  4 imputation approaches  ×  2 post-removal options
= 2,000 output matrices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BBDD"/>
                </a:solidFill>
              </a:rPr>
              <a:t>Daniil Nikitin  ·  BostonGene  ·  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Research objective and why harmonization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3A5F"/>
                </a:solidFill>
              </a:rPr>
              <a:t>• Central question: can SOM gene-expression patterns resolve FL subtypes, align them to normal GC B-cell states (LZ ↔ DZ), and predict clinical outcomes across mixed platforms?</a:t>
            </a:r>
          </a:p>
          <a:p>
            <a:r>
              <a:rPr sz="1600">
                <a:solidFill>
                  <a:srgbClr val="1A1A1A"/>
                </a:solidFill>
              </a:rPr>
              <a:t>• Data span: Affymetrix microarray · Illumina NGS · Illumina microarray · Agilent microarray — four fundamentally incompatible measurement technologies</a:t>
            </a:r>
          </a:p>
          <a:p>
            <a:r>
              <a:rPr sz="1600">
                <a:solidFill>
                  <a:srgbClr val="C0392B"/>
                </a:solidFill>
              </a:rPr>
              <a:t>• Problem magnitude: ~95% of PCA variance is explained by RNA_BATCH (platform) in raw data — biology is entirely hidden</a:t>
            </a:r>
          </a:p>
          <a:p>
            <a:r>
              <a:rPr sz="1600">
                <a:solidFill>
                  <a:srgbClr val="1E7A46"/>
                </a:solidFill>
              </a:rPr>
              <a:t>• Goal: reduce batch R² below 20% while preserving biological signal (diagnosis, cell type)</a:t>
            </a:r>
          </a:p>
          <a:p>
            <a:r>
              <a:rPr sz="1600">
                <a:solidFill>
                  <a:srgbClr val="1A1A1A"/>
                </a:solidFill>
              </a:rPr>
              <a:t>• Metric: one-way ANOVA R² of RNA_BATCH on first 10 PCA components (lower = better)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120640"/>
            <a:ext cx="11430000" cy="685800"/>
          </a:xfrm>
          <a:prstGeom prst="rect">
            <a:avLst/>
          </a:prstGeom>
          <a:solidFill>
            <a:srgbClr val="FFF0D0"/>
          </a:solidFill>
          <a:ln>
            <a:solidFill>
              <a:srgbClr val="D3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37C00"/>
                </a:solidFill>
              </a:rPr>
              <a:t>Before normalization: ~95% of PCA variance explained by platform.  Target: R² &lt; 0.20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Multi-platform cohort: 5,444 samples · 88 cohorts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Dataset composition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50291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285"/>
                <a:gridCol w="1436914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Attribute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Total samples (initial)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7,174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After bad-batch / rare-group exclusion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5,444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Genes (full coverage, no 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Cohorts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Platforms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1097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Major RNA batches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1417320"/>
          <a:ext cx="6126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"/>
                <a:gridCol w="2194560"/>
              </a:tblGrid>
              <a:tr h="3135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RNA_BATCH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RNASeq_FF_PolyA  ★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Illumina 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GPL570_Unknown_Unknown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1,030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Affymetrix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GPL570_FF_Unknown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Affymetrix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RNASeq_FFPE_Exome_capture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939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Illumina NGS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GPL14951_FFPE_Unknown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Illumina microarray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GPL570_FFPE_Unknown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Affymetrix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Diagnosis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4760"/>
            <a:ext cx="2651760" cy="1188720"/>
          </a:xfrm>
          <a:prstGeom prst="rect">
            <a:avLst/>
          </a:prstGeom>
          <a:solidFill>
            <a:srgbClr val="F0F6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DLBCL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</a:rPr>
              <a:t>~3,000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794760"/>
            <a:ext cx="2651760" cy="1188720"/>
          </a:xfrm>
          <a:prstGeom prst="rect">
            <a:avLst/>
          </a:prstGeom>
          <a:solidFill>
            <a:srgbClr val="F0F6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840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FL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DA4"/>
                </a:solidFill>
              </a:rPr>
              <a:t>~2,000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794760"/>
            <a:ext cx="2651760" cy="1188720"/>
          </a:xfrm>
          <a:prstGeom prst="rect">
            <a:avLst/>
          </a:prstGeom>
          <a:solidFill>
            <a:srgbClr val="F0F6FF"/>
          </a:solidFill>
          <a:ln>
            <a:solidFill>
              <a:srgbClr val="1E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46"/>
                </a:solidFill>
              </a:rPr>
              <a:t>Normal B cells
(Normal_B_cells + Kassandra)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7A46"/>
                </a:solidFill>
              </a:rPr>
              <a:t>~1,000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794760"/>
            <a:ext cx="2651760" cy="1188720"/>
          </a:xfrm>
          <a:prstGeom prst="rect">
            <a:avLst/>
          </a:prstGeom>
          <a:solidFill>
            <a:srgbClr val="F0F6FF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840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Rare subtypes
(MCL, DHL, MZL, CLL, Other)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4444"/>
                </a:solidFill>
              </a:rPr>
              <a:t>excluded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Benchmark design: exhaustive cross-product of all methodological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1A"/>
                </a:solidFill>
              </a:rPr>
              <a:t>• A partial factorial design cannot identify the best combination — methods interact in non-obvious ways</a:t>
            </a:r>
          </a:p>
          <a:p>
            <a:r>
              <a:rPr sz="1500">
                <a:solidFill>
                  <a:srgbClr val="1A1A1A"/>
                </a:solidFill>
              </a:rPr>
              <a:t>• Full cross-product is the only way to:</a:t>
            </a:r>
          </a:p>
          <a:p>
            <a:r>
              <a:rPr sz="1400">
                <a:solidFill>
                  <a:srgbClr val="1A1A1A"/>
                </a:solidFill>
              </a:rPr>
              <a:t>  – Compare methods under identical data conditions (same samples, same genes)</a:t>
            </a:r>
          </a:p>
          <a:p>
            <a:r>
              <a:rPr sz="1400">
                <a:solidFill>
                  <a:srgbClr val="1A1A1A"/>
                </a:solidFill>
              </a:rPr>
              <a:t>  – Identify which method is most robust across imputation choices</a:t>
            </a:r>
          </a:p>
          <a:p>
            <a:r>
              <a:rPr sz="1400">
                <a:solidFill>
                  <a:srgbClr val="1A1A1A"/>
                </a:solidFill>
              </a:rPr>
              <a:t>  – Quantify the marginal effect of each dimension independently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017520"/>
          <a:ext cx="114299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40079"/>
                <a:gridCol w="7589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Sample-removal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Which batches / cohorts to exclude before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Imputation approach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How to handle missing genes across platforms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Normalization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Batch-correction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Post-normalization outlier removal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</a:rPr>
                        <a:t>With / without removing residual outlier batches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solidFill>
            <a:srgbClr val="E8F4E8"/>
          </a:solidFill>
          <a:ln>
            <a:solidFill>
              <a:srgbClr val="1E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7A46"/>
                </a:solidFill>
              </a:rPr>
              <a:t>10 × 4 × 25 = 1,000 normalization runs  →  2,000 output matrices on S3  (each job stored as post0 + post1 variant)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Dimension 1 — Sample-removal strategies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1097280"/>
                <a:gridCol w="4114800"/>
              </a:tblGrid>
              <a:tr h="4904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S0_no_removal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samples (rare-group exclusion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Baseline; maximum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A_confirmed_bad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Exclude 3 confirmed FFPE microarray batches + SOM cohort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5,444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Removes known bad-quality batches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B_extended_bad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Exclude 11 batches + SOM cohort (superset of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More aggressive known-bad removal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C_rnaseq_only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RNA-seq batches only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2,386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Removes cross-platform challenge entirely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D_malignant_only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Tumor samples only (no normal B cells)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Tests normalization without normal/tumor mixing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E1_iterative_r1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+ 1 data-driven PCA-outlier batch removed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5,350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Iterative PCA-based outlier detection round 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E2_iterative_r2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E1 + 1 more PCA-outlier batch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Round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E3_iterative_r3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E2 + 1 more PCA-outlier batch removed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5,256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Round 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904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F_microarray_only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Microarray batches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Intra-platform normalization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G_affymetrix_only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GPL570 batches only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2,824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Single-technology normalization test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Note: E1–E3 use identify_outlier_batches() iteratively on PCA-corrected data — most expensive preparation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Dimension 2 — Handling missing genes (imputation)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~13,000 genes pass the 5,000-sample presence threshold; only 3,520 have full coverage (no NA across all platforms).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017520"/>
                <a:gridCol w="1188720"/>
                <a:gridCol w="2194560"/>
                <a:gridCol w="40233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Genes (S0)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Missing-data assumption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Drop all genes with any 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Complete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Smallest gene space; zero NaN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sklearn KNNImputer k=5 (Troyanskaya 2001)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~12,000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MAR within neighborhood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Residual NaN for BEAM genes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missforest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 missForest (Stekhoven 2012) —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MAR across all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Ran &gt;24h on 16 CPUs / 240 GB RAM; pod killed, no restart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softimpute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 softImpute (Hastie 2015) — matrix completion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~11,000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Low-rank MAR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Residual NaN when no low-rank signal; same BEAM limitation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03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Key decision: dropna(axis=1) for residual NaN (BEAM genes)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2336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After KNN/softImpute, remaining NaN are BEAMs (Batch-Effect Associated Missing values, Goh 2023) — absent from entire batches → MNAR</a:t>
            </a:r>
          </a:p>
          <a:p>
            <a:r>
              <a:rPr sz="1300">
                <a:solidFill>
                  <a:srgbClr val="C0392B"/>
                </a:solidFill>
              </a:rPr>
              <a:t>• Global median imputation of BEAMs: creates artificial homogenization · inflates intra-sample variance (Hui 2023: +21.3% RMSE) · biases ComBat/SVA EB priors</a:t>
            </a:r>
          </a:p>
          <a:p>
            <a:r>
              <a:rPr sz="1300">
                <a:solidFill>
                  <a:srgbClr val="1E7A46"/>
                </a:solidFill>
              </a:rPr>
              <a:t>• Decision: dropna(axis=1) for all 24 methods  |  Exception: HarmonizR handles BEAMs internally by design</a:t>
            </a:r>
          </a:p>
          <a:p>
            <a:r>
              <a:rPr sz="1300">
                <a:solidFill>
                  <a:srgbClr val="444444"/>
                </a:solidFill>
              </a:rPr>
              <a:t>• Rubin 1976 (MNAR theory)  ·  Goh 2025 (Briefings in Bioinformatics): 'none of the MVI methods evaluated are suitable for handling BEAMs effectively'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Dimension 3 — Batch-correction methods evaluated (1/2: methods 01–13)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7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84"/>
                <a:gridCol w="1730546"/>
                <a:gridCol w="2277035"/>
                <a:gridCol w="455407"/>
                <a:gridCol w="455407"/>
                <a:gridCol w="6375698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Algorithm family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Lang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Reference / Notes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01_raw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Passthrough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Absolute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02_median_scaling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Per-batch median shift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Simple interpretable baseline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03_limma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Linear model (additive)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limma removeBatchEffect; classic microarray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04_sva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Surrogate variable analysis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Leek &amp; Storey 2012; falls back if 0 SVs detected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05_combat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Empirical Bayes (ComBat)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Johnson 2007; additive + multiplicative; biology covariate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06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06_combat_seq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ComBat-seq (NB counts)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Zhang 2020; count data; rounds to integers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07_pycombat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ComBat Python 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combat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08_inmoose_combatseq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ComBat-seq Python port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inmoose.pycombat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09_ruv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Factor analysis (RUVg)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Risso 2014; 10 housekeeping negative-control genes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10_mnn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Mutual nearest neighbours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Haghverdi 2018 fastMNN; embedding inverse-projected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11_harmony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PCA-space 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Korsunsky 2019 Harmony; inverse-projected to gene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12_scanorama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Panoramic alignment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Hie 2019 Scanorama; gene intersection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13_fsmvn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Feature mean-variance norm.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Negative control for distributional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Tier: L = Low (minimal correction)   M = Medium (parametric / subspace)   H = High (distributional)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Dimension 3 — Batch-correction methods evaluated (2/2: methods 14–25)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737360"/>
                <a:gridCol w="2286000"/>
                <a:gridCol w="548640"/>
                <a:gridCol w="457200"/>
                <a:gridCol w="6263640"/>
              </a:tblGrid>
              <a:tr h="3868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Algorithm family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Lang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Reference / Notes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14_qsmooth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Smooth quantile norm.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Hicks 2018 qsmooth; group-aware quantile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15_fsqn_py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FSQN Python re-impl.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Per-gene quantile matching to reference batch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16_fsqn_r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FSQN R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 Best known result — Franks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17_quantile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Standard quantile norm.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Bolstad 2003; forces one global distribution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18_rank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Fractional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Platform-independent; monotone transform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19_tdm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Training distribution match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Thompson 2016 TDM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20_shambhala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CuBlock + quantile norm.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R+Oct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Borisov 2022 Shambhala2 — currently failing (package not installed)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21_harmonizr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BEAM-aware ComBat/limma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Voss 2022 HarmonizR; dissection-based; handles NA natively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22_tmm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TMM (edgeR)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Robinson 2010; RNA-seq only — skipped on mixed strategies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23_vst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DESeq2 VST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Love 2014; RNA-seq only — skipped on mixed strategies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24_peer_k10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PEER hidden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Unavailable for R 4.5 — always skipped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25_angel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Rank + platform-variance filter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Reduced gene space — R² not directly comparable with others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Tier: L = Low   M = Medium   H = High (distributional — most aggressive)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Partial results — strategy A_confirmed_bad × strict imputation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Pre-benchmark exploration (harmonization_benchmark.ipynb):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914400"/>
                <a:gridCol w="2743200"/>
              </a:tblGrid>
              <a:tr h="3740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R² batch (post0)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R² diag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01_raw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Baseline; platform dominates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03_limma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~0.45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Partial; additive correction only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05_combat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EB + biology covariate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07_pycombat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~0.35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Comparable to ComBat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11_harmony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&gt;0.95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REJECTED — worsened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14_qsmooth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~0.48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Fails 12/88 cohorts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15_fsqn_py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~0.20–0.25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16_fsqn_r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~0.16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~0.09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 CURRENT BEST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17_quantile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 outlier batches remain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21_harmonizr*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~0.10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~0.14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*E3×softimpute — metrics.csv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How to read the columns: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630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R² batch (post0): fraction of PCA variance (first 10 PCs) explained by RNA_BATCH — without post-normalization outlier removal.  Lower = better. Target &lt; 0.20</a:t>
            </a:r>
          </a:p>
          <a:p>
            <a:r>
              <a:rPr sz="1200">
                <a:solidFill>
                  <a:srgbClr val="1A1A1A"/>
                </a:solidFill>
              </a:rPr>
              <a:t>• R² diag (post0): same formula for Diagnosis_cell_type_unified. Measures biology preserved. Higher =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Verified example from metrics.csv
(E3 × softimpute × HarmonizR):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3474720"/>
          <a:ext cx="475487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918"/>
                <a:gridCol w="556877"/>
                <a:gridCol w="771061"/>
                <a:gridCol w="471204"/>
                <a:gridCol w="471204"/>
                <a:gridCol w="428367"/>
                <a:gridCol w="514041"/>
                <a:gridCol w="471204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strat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imp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post_rm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r2_batch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r2_diag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n_samples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n_genes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E3_iterative_r3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softimpute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21_harmonizr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0.141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5,256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1A"/>
                          </a:solidFill>
                        </a:rPr>
                        <a:t>15,226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2376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7A46"/>
                </a:solidFill>
              </a:rPr>
              <a:t>• FSQN R: only method reaching R² &lt; 0.20 on full mixed-platform data with strategy A</a:t>
            </a:r>
          </a:p>
          <a:p>
            <a:r>
              <a:rPr sz="1200">
                <a:solidFill>
                  <a:srgbClr val="1E7A46"/>
                </a:solidFill>
              </a:rPr>
              <a:t>• HarmonizR: R² = 0.099 with E3 × softimpute — best result in metrics.csv</a:t>
            </a:r>
          </a:p>
          <a:p>
            <a:r>
              <a:rPr sz="1200">
                <a:solidFill>
                  <a:srgbClr val="C0392B"/>
                </a:solidFill>
              </a:rPr>
              <a:t>• Harmony: R² &gt; 0.95 — anti-optimal; worsened batch effect</a:t>
            </a:r>
          </a:p>
          <a:p>
            <a:r>
              <a:rPr sz="1200">
                <a:solidFill>
                  <a:srgbClr val="444444"/>
                </a:solidFill>
              </a:rPr>
              <a:t>• Full 10×25 heatmap pending all 1,000 jobs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Dimension 4 — Post-normalization batch outlier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</a:rPr>
              <a:t>• After normalization: identify batches whose PCA centroid is &gt;2σ from global mean → remove those samples → recompute matrix</a:t>
            </a:r>
          </a:p>
          <a:p>
            <a:r>
              <a:rPr sz="1300">
                <a:solidFill>
                  <a:srgbClr val="1A1A1A"/>
                </a:solidFill>
              </a:rPr>
              <a:t>  – post_rm=False  →  __post0  — normalized output as-is</a:t>
            </a:r>
          </a:p>
          <a:p>
            <a:r>
              <a:rPr sz="1300">
                <a:solidFill>
                  <a:srgbClr val="1A1A1A"/>
                </a:solidFill>
              </a:rPr>
              <a:t>  – post_rm=True   →  __post1  — normalized output with outlier batches removed</a:t>
            </a:r>
          </a:p>
          <a:p>
            <a:r>
              <a:rPr sz="1400">
                <a:solidFill>
                  <a:srgbClr val="1A1A1A"/>
                </a:solidFill>
              </a:rPr>
              <a:t>• Purpose: 'second-chance' dimension — tests whether residual outlier batches can be remediated without re-normalizing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Concrete examples from logs/norm_log_e3_260428.txt (E3_iterative_r3 × strict):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108960"/>
          <a:ext cx="114299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2560319"/>
                <a:gridCol w="47548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post0 R²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post1 R²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Batch removed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19_tdm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GPL1708_FF_Unknown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−0.030 — meaningful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09_ruv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0.383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0.380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GPL1708_FF_Unknown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−0.003 — negligible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06_combat_seq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GPL1708_FF_Unknown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+0.001 — no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21_harmonizr (strict)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0.101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0.101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GPL1708_FF_Unknown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 — already optimal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21_harmonizr (softimpute)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— none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0 — already fully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440680"/>
            <a:ext cx="11430000" cy="685800"/>
          </a:xfrm>
          <a:prstGeom prst="rect">
            <a:avLst/>
          </a:prstGeom>
          <a:solidFill>
            <a:srgbClr val="FFF0D0"/>
          </a:solidFill>
          <a:ln>
            <a:solidFill>
              <a:srgbClr val="D3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6811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GPL1708_FF_Unknown (Illumina microarray) is consistently the residual outlier across most methods on E3.
For well-performing methods (HarmonizR), post_rm has no effect — the batch is already integrated.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Two-stage computational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52144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ourier New"/>
              </a:rPr>
              <a:t>RAW DATA (S3)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comb_exp.tsv (~1.9 GB · ~7,174 samples × ~50,000 genes)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comb_ann_unified.csv (~7 MB)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▼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STAGE 1 — PREPARATION  (run_prep_parallel.py)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40 jobs: 10 strategies × 4 imputation approaches  |  4 workers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                                     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Filter strategies          Imputation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S0_no_removal              strict:     dropna → 3,520 genes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A_confirmed_bad  ◄──PCA    knn:        KNNImputer → ~12k genes (S0)│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B_extended_bad             missforest: FAILED  (&gt;24h / 240 GB)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C_rnaseq_only              softimpute: softImpute → ~11k genes (S0)│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D_malignant_only           [residual NaN → dropna(axis=1)]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E1 / E2 / E3  ◄──PCA                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F_microarray_only          log_transform_by_cohort()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G_affymetrix_only          [log2(x+1) where max &gt; 30]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                                  │  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UPLOAD → S3: prepared/{strat}__{imp}__exp.tsv.gz + __ann.tsv.gz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└─────────────────────────────────────────────────────────────────────┘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          │   40 prepared pairs on S3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          ▼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STAGE 2 — NORMALIZATION  (run_norm_parallel.py)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1,000 jobs: 40 pairs × 25 methods  |  4 workers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                                     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Download prepared (strat, imp) pair  → apply one of 25 methods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Low:  raw · median_scaling · limma · sva · tmm* · vst*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Med:  combat · pycombat · ruv · mnn · harmony · scanorama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      harmonizr · peer** · inmoose · combat_seq · fsmvn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High: qsmooth · fsqn_py · fsqn_r · quantile · rank · tdm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      shambhala · angel              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                                             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post_rm=False → post0  |  post_rm=True → remove outlier → post1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compute r2_batch, r2_diag, n_samples, n_genes            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│  UPLOAD post0 + post1 TSV.GZ to S3  |  WRITE JSON metrics sidecar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└─────────────────────────────────────────────────────────────────────┘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│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▼  metrics.csv  →  harmonization_benchmark.ipynb</a:t>
            </a:r>
          </a:p>
          <a:p>
            <a:r>
              <a:rPr sz="800">
                <a:solidFill>
                  <a:srgbClr val="1A1A1A"/>
                </a:solidFill>
                <a:latin typeface="Courier New"/>
              </a:rPr>
              <a:t>               heatmaps · ranking tables · top-K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72084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* RNA-seq only (TMM/VST): skipped on mixed strategies    ** PEER: unavailable for R 4.5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Selected method: Feature-Specific Quantile Normalization (FSQN R package)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Reference: Franks, Cai &amp; Whitfield, Biostatistics 2018  — doi.org/10.1093/biostatistics/kxx028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Algorithm (per gene independently):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Compute empirical quantile distribution in the reference batch (RNASeq_FF_PolyA, n=1,039)</a:t>
            </a:r>
          </a:p>
          <a:p>
            <a:r>
              <a:rPr sz="1300">
                <a:solidFill>
                  <a:srgbClr val="1A1A1A"/>
                </a:solidFill>
              </a:rPr>
              <a:t>• For each non-reference batch: map each sample's value to the corresponding quantile in the reference distribution</a:t>
            </a:r>
          </a:p>
          <a:p>
            <a:r>
              <a:rPr sz="1300">
                <a:solidFill>
                  <a:srgbClr val="1A1A1A"/>
                </a:solidFill>
              </a:rPr>
              <a:t>• Apply the quantile mapping function — aligns distribution shape within each gene, not across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Why better than standard QN: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Standard QN forces all genes to the same global distribution — ignores that different genes have different biological variance. FSQN aligns per-gene distributions only, preserving relative expression differences.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091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Configuration: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29200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Reference batch: RNASeq_FF_PolyA (1,039 samples — highest quality, largest RNA-seq batch)</a:t>
            </a:r>
          </a:p>
          <a:p>
            <a:r>
              <a:rPr sz="1200">
                <a:solidFill>
                  <a:srgbClr val="1A1A1A"/>
                </a:solidFill>
              </a:rPr>
              <a:t>• Via rpy2 file-based interface: expression → tempfile → R reads/writes → Python reads result</a:t>
            </a:r>
          </a:p>
          <a:p>
            <a:r>
              <a:rPr sz="1200">
                <a:solidFill>
                  <a:srgbClr val="1A1A1A"/>
                </a:solidFill>
              </a:rPr>
              <a:t>• Pre-computed output: $FL_DATA_ROOT/fsqn_normalized_exp_R.tsv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669280" cy="3749039"/>
          </a:xfrm>
          <a:prstGeom prst="rect">
            <a:avLst/>
          </a:prstGeom>
          <a:solidFill>
            <a:srgbClr val="F0F6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Current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Even after FSQN, the formal SOM-space batch test fails:
Different cell types from the same platform cluster together more tightly than the same cell type across platforms.
FSQN corrects well in gene-expression PCA space — but platform-specific gene-set activation patterns remain in SOM metagene space.
→ Restricting SOM analysis to RNA-seq-only samples is the current recommendation.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Comparison of top normalization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Values from pre-benchmark exploration (harmonization_benchmark.ipynb). Formal benchmark metrics pending full run. R² values omitted where unverified — will be populated from metrics.csv after all 1,000 jobs complete.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544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1280160"/>
                <a:gridCol w="4206240"/>
                <a:gridCol w="3017520"/>
              </a:tblGrid>
              <a:tr h="4191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Batch R²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Biology (R² diag)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Raw (no normalization)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Baseline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limma removeBatchEffect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Additive only; multiplicative effects remain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ComBat (Johnson 2007)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Requires complete matrix; fails with BEAMs in large gene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Not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SVA (Leek 2012)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 SVs detected on full data; falls through to uncorrected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Not selected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qsmooth (Hicks 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Fails on 12/88 cohorts; partial improvement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Standard QN (Bolstad 2003)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Forces one global distribution; 5 outlier batches remain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Good — not selected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FSQN Python re-impl.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Slightly weaker than R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Alternative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FSQN R (Franks 2018)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Requires reference batch; gene space restricted to intersection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 SELECTED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Harmony (Korsunsky 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Worsened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Embedding-based; back-projection to gene space loses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HarmonizR (Voss 2022)*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0.099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0.141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E3×softimpute only; slow (~14 min/run)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Promising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TMM / VST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RNA-seq only; inapplicable to mixed-platform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Inapplicable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* HarmonizR E3×softimpute result from metrics.csv (2026-04-28 run)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we measure batch effect: PCA R² (one-way ANOVA)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Formula: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173736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212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Courier New"/>
              </a:rPr>
              <a:t>R²_PC  =  SS_between_batches  /  SS_total</a:t>
            </a:r>
          </a:p>
          <a:p>
            <a:r>
              <a:rPr sz="12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1A"/>
                </a:solidFill>
                <a:latin typeface="Courier New"/>
              </a:rPr>
              <a:t>  where SS = Sum of Squares</a:t>
            </a:r>
          </a:p>
          <a:p>
            <a:r>
              <a:rPr sz="1200">
                <a:solidFill>
                  <a:srgbClr val="1A1A1A"/>
                </a:solidFill>
                <a:latin typeface="Courier New"/>
              </a:rPr>
              <a:t>    SS_between  =  variance in that PC attributable to batch membership</a:t>
            </a:r>
          </a:p>
          <a:p>
            <a:r>
              <a:rPr sz="1200">
                <a:solidFill>
                  <a:srgbClr val="1A1A1A"/>
                </a:solidFill>
                <a:latin typeface="Courier New"/>
              </a:rPr>
              <a:t>    SS_total    =  total variance in that PC across all samples</a:t>
            </a:r>
          </a:p>
          <a:p>
            <a:r>
              <a:rPr sz="12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1A"/>
                </a:solidFill>
                <a:latin typeface="Courier New"/>
              </a:rPr>
              <a:t>mean R²  =  (1/10) × Σ R²_PC    (averaged over first 10 PCA components)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392B"/>
                </a:solidFill>
              </a:rPr>
              <a:t>• R² = 1.0: all variance in that PC explained by batch — pure technical noise</a:t>
            </a:r>
          </a:p>
          <a:p>
            <a:r>
              <a:rPr sz="1300">
                <a:solidFill>
                  <a:srgbClr val="1E7A46"/>
                </a:solidFill>
              </a:rPr>
              <a:t>• R² = 0.0: batch has no predictive power — ideal (biology-preserving)</a:t>
            </a:r>
          </a:p>
          <a:p>
            <a:r>
              <a:rPr sz="1300">
                <a:solidFill>
                  <a:srgbClr val="1A1A1A"/>
                </a:solidFill>
              </a:rPr>
              <a:t>• Baseline (raw data): R² ≈ 0.95  — source: harmonization_benchmark.ipynb</a:t>
            </a:r>
          </a:p>
          <a:p>
            <a:r>
              <a:rPr sz="1300">
                <a:solidFill>
                  <a:srgbClr val="1E7A46"/>
                </a:solidFill>
              </a:rPr>
              <a:t>• Current best (HarmonizR, E3×softimpute): R² = 0.099  — source: metrics.csv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Complementary metric — R² diagnosis: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Same formula applied to Diagnosis_cell_type_unified.
Measures biological signal preserved after normalization.
We want: batch R² LOW  and  diagnosis R² HIGH.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5577840" cy="3291840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</a:rPr>
              <a:t>Batch R² range across completed methods (E3 × strict, from metrics.csv):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246120"/>
            <a:ext cx="39624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01_raw  0.520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675888"/>
            <a:ext cx="2560320" cy="320040"/>
          </a:xfrm>
          <a:prstGeom prst="rect">
            <a:avLst/>
          </a:prstGeom>
          <a:solidFill>
            <a:srgbClr val="D3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21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06_combat_seq  0.336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105656"/>
            <a:ext cx="2918460" cy="320040"/>
          </a:xfrm>
          <a:prstGeom prst="rect">
            <a:avLst/>
          </a:prstGeom>
          <a:solidFill>
            <a:srgbClr val="D3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513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09_ruv  0.383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535424"/>
            <a:ext cx="41757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81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19_tdm  0.548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965192"/>
            <a:ext cx="769620" cy="32004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21_harmonizr  0.101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12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Angel (25_angel) uses a reduced gene space — R² is not directly comparable with other methods.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Benchmark run status — as of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2377440"/>
          </a:xfrm>
          <a:prstGeom prst="rect">
            <a:avLst/>
          </a:prstGeom>
          <a:solidFill>
            <a:srgbClr val="F0F6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Stage 1 — Preparation (40 pairs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~31 prepared pairs on S3 (62 files: exp + ann per pair)</a:t>
            </a:r>
          </a:p>
          <a:p>
            <a:r>
              <a:rPr sz="1200">
                <a:solidFill>
                  <a:srgbClr val="1A1A1A"/>
                </a:solidFill>
              </a:rPr>
              <a:t>• ~9 missing pairs: all involve missforest imputation</a:t>
            </a:r>
          </a:p>
          <a:p>
            <a:r>
              <a:rPr sz="1200">
                <a:solidFill>
                  <a:srgbClr val="C0392B"/>
                </a:solidFill>
              </a:rPr>
              <a:t>• missforest FAILURE: ran &gt;24 hours on 16 CPUs / 240 GB RAM; Kubernetes pod was killed with no automated restart → removed from active benchmark</a:t>
            </a:r>
          </a:p>
          <a:p>
            <a:r>
              <a:rPr sz="1200">
                <a:solidFill>
                  <a:srgbClr val="1E7A46"/>
                </a:solidFill>
              </a:rPr>
              <a:t>• 3 active imputations (strict, knn, softimpute): all fully prepared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760720" cy="2377440"/>
          </a:xfrm>
          <a:prstGeom prst="rect">
            <a:avLst/>
          </a:prstGeom>
          <a:solidFill>
            <a:srgbClr val="F0F6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Stage 2 — Normalization (1,000 jobs → 2,000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• Output files on S3: 1,116 (as of 2026-04-28 evening)</a:t>
            </a:r>
          </a:p>
          <a:p>
            <a:r>
              <a:rPr sz="1200">
                <a:solidFill>
                  <a:srgbClr val="1A1A1A"/>
                </a:solidFill>
              </a:rPr>
              <a:t>• Completed job combos: 558 (each → post0 + post1)</a:t>
            </a:r>
          </a:p>
          <a:p>
            <a:r>
              <a:rPr sz="1200">
                <a:solidFill>
                  <a:srgbClr val="444444"/>
                </a:solidFill>
              </a:rPr>
              <a:t>• Skipped (TMM/VST on mixed, PEER): included in total</a:t>
            </a:r>
          </a:p>
          <a:p>
            <a:r>
              <a:rPr sz="1200">
                <a:solidFill>
                  <a:srgbClr val="D37C00"/>
                </a:solidFill>
              </a:rPr>
              <a:t>• Failed jobs in failed_jobs_norm.txt: 31 entries (to be retried)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118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Timeline of outputs (source: current_normalized_files_260428.txt):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93192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8321040"/>
              </a:tblGrid>
              <a:tr h="2895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Outputs produced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2026-04-19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Initial run (early strategies/methods)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2026-04-20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Continued initial run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2026-04-26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After refactoring + pod relaunch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2026-04-27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408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Large batch — E3 strategies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E3 × softimpute completion (logs/norm_log_e3_260428.txt)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E8F8E8"/>
          </a:solidFill>
          <a:ln>
            <a:solidFill>
              <a:srgbClr val="1E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7A46"/>
                </a:solidFill>
              </a:rPr>
              <a:t>🏆  Recent milestone: E3 × softimpute × HarmonizR — R² batch = 0.099 — new lowest score across all completed runs
Source: metrics.csv row: E3_iterative_r3, softimpute, 21_harmonizr, post_rm=False → r2_batch=0.09861, r2_diag=0.14055, 5256 samples, 15226 genes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Technical problems solved during benchmark development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164592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1. rpy2 fork-safety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Running multiple R sessions via rpy2 in a multiprocessing pool caused memory corruption and crashes.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7A46"/>
                </a:solidFill>
              </a:rPr>
              <a:t>Solution: Each normalization job runs as an isolated subprocess (fresh Python + R session). ThreadPoolExecutor launches subprocesses — threads manage processes, processes own R sessions.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80360"/>
            <a:ext cx="11612880" cy="164592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2. Two-stage pipeline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Each of 1,000 workers re-downloading the 1.9 GB expression matrix and re-running imputation was prohibitively slow and redundant.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7A46"/>
                </a:solidFill>
              </a:rPr>
              <a:t>Solution: Separated Stage 1 (preparation, 40 jobs) from Stage 2 (normalization, 1,000 jobs). Stage 2 workers download only the ~600 MB pre-prepared file for their (strategy, imputation) pair.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11612880" cy="164592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3. Residual NaN handling (BEAM genes)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KNN and softImpute leave residual NaN for genes absent from entire batches. Early code used fillna(median) — statistically incorrect (Hui 2023: inflates noise irreversibly).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7A46"/>
                </a:solidFill>
              </a:rPr>
              <a:t>Solution: Literature-backed decision: dropna(axis=1) for all 24 methods; HarmonizR handles BEAMs internally. Documented in research notes with citations.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Technical problems solved during benchmark development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164592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4. Memory management on K8s pod (16 CPU / 240 GB 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OOM crashes when running high-memory methods (HarmonizR, missForest) with large softimpute gene spaces (~15,000 genes × 5,256 samples). missForest failed to complete in &gt;24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7A46"/>
                </a:solidFill>
              </a:rPr>
              <a:t>Solution/Status: Three-level memory guard in dispatcher + worker-level checks + gc.collect() + R GC calls. missForest removed from benchmark. HarmonizR requires ~14 min and ~40 GB peak RAM.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80360"/>
            <a:ext cx="11612880" cy="164592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5. Shambhala2 R package environment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library(Shambhala2) throws 'there is no package called Shambhala2' in the pod — even though installation was attempted. Source: logs/norm_log_e3_260428.txt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7A46"/>
                </a:solidFill>
              </a:rPr>
              <a:t>Solution/Status: All shambhala jobs fail and are logged in failed_jobs_norm.txt. Root cause to be investigated — likely GitHub package installation failure during pod init script.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63440"/>
            <a:ext cx="11612880" cy="164592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6. Kubernetes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Problem: Building a reproducible pod environment with R 4.5 + Bioconductor 3.22 + 12 R packages + Python packages takes 30–40 minutes and must work reliably across pod restarts.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7A46"/>
                </a:solidFill>
              </a:rPr>
              <a:t>Solution/Status: Dockerfile + k8s/pod-ssh.yaml embed requirements.txt and install_r_packages.R inline. VSCode Remote-SSH via port-forward; scripts synced by rsync from Mac.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Batch effect testing — completed assessments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1362456"/>
          </a:xfrm>
          <a:prstGeom prst="rect">
            <a:avLst/>
          </a:prstGeom>
          <a:solidFill>
            <a:srgbClr val="F8F8FF"/>
          </a:solidFill>
          <a:ln>
            <a:solidFill>
              <a:srgbClr val="1E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46"/>
                </a:solidFill>
              </a:rPr>
              <a:t>1. Primary benchmark metric (PCA R² batch) 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Computed for all completed E3-strategy jobs; stored in harmonization-scripts/metrics.csv (local partial copy; full on S3)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136 rows: E3 × {strict, knn, softimpute} × all applicable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Provides a single scalar per output matrix; enables cross-method ranking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51176"/>
            <a:ext cx="11612880" cy="1014983"/>
          </a:xfrm>
          <a:prstGeom prst="rect">
            <a:avLst/>
          </a:prstGeom>
          <a:solidFill>
            <a:srgbClr val="F8F8FF"/>
          </a:solidFill>
          <a:ln>
            <a:solidFill>
              <a:srgbClr val="D3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877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7C00"/>
                </a:solidFill>
              </a:rPr>
              <a:t>2. Visual QC (PCA / UMAP / tSNE)  — to be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Planned for top-10 normalization outputs in harmonization_benchmark.ipynb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Colored by RNA_BATCH, Diagnosis, platform, FF/FFPE, tumor/normal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11612880" cy="1362456"/>
          </a:xfrm>
          <a:prstGeom prst="rect">
            <a:avLst/>
          </a:prstGeom>
          <a:solidFill>
            <a:srgbClr val="F8F8FF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941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</a:rPr>
              <a:t>3. SOM metagene space batch test  — previously shown to supervisor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8678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Ran oposSOM on FSQN R and QN outputs (results already presented)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Result: batch test fails in metagene space — cell types from same platform cluster more tightly than same cell type across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8172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FSQN corrects well in gene-expression PCA space — but platform-specific gene-set activation remains in SOM metagene 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11496"/>
            <a:ext cx="11612880" cy="1014983"/>
          </a:xfrm>
          <a:prstGeom prst="rect">
            <a:avLst/>
          </a:prstGeom>
          <a:solidFill>
            <a:srgbClr val="F8F8FF"/>
          </a:solidFill>
          <a:ln>
            <a:solidFill>
              <a:srgbClr val="D3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480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7C00"/>
                </a:solidFill>
              </a:rPr>
              <a:t>4. Strategy-level comparison  — to be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Strategies C (RNA-seq only), G (Affymetrix only), F (microarray only) establish within-platform baselines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881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Comparison against S0/A/B will quantify the benefit of cross-platform normalization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17A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Remaining batch effect assessment approaches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1. PCA R² heatmap across full cross-product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Pending: all 1,000 jobs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Will produce 10 strategies × 25 methods heatmap for each of 3 active imputations × 2 post variants = 6 heatmaps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Key question: is FSQN R consistently best, or does it interact with strategy / imputation choice?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78608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2. Visual inspection of PCA / UMAP / tSNE plots for top-10 approaches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To be done manually in harmonization_benchmark.ipynb after loading top-10 expression matrices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552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Colored by RNA_BATCH, Diagnosis, platform, FF/FFPE, tumor/normal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027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Will include comparison against 10 representative bad-normalization cases to visualize the contrast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59936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3. Distribution plots by cohort after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Visual inspection of per-cohort expression distributions before/after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365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Box plots or violin plots colored by RNA_BATCH for top-10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Will reveal residual cohort-level shifts not captured by PCA 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541264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4. kBET (Büttner 2019) — k-nearest neighbor batch effect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7044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Formal statistical test: are k nearest neighbors of each sample enriched for same-batch samples?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179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More sensitive than PCA R²; operates at individual sample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653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Status: not yet implemented — planned addition to bench_shared.py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17B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Remaining batch effect assessment approaches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5. LISI (Korsunsky 2019) — Local Inverse Simpson's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iLISI (integration LISI) — higher = better batch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cLISI (cell-type LISI) — higher = better biology preservation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Status: not yet implemented — planned as supplementary 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78608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6. SOM-space batch test (quantitative)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Qualitative SOM portrait comparison (shown previously to supervisor) showed platform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552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Needed: quantify R² of RNA_BATCH on SOM metagene matrix (not raw genes)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027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Status: planned — requires running oposSOM on top-5 normalization outputs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59936"/>
            <a:ext cx="11612880" cy="1737360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7. Silhouette score (batch vs. biology)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Batch silhouette with RNA_BATCH labels — want low / 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365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Biology silhouette with Diagnosis labels — want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Composite ratio: biology silhouette / batch silhouette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315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Status: planned — straightforward addition to bench_shared.py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888736"/>
            <a:ext cx="11612880" cy="1389888"/>
          </a:xfrm>
          <a:prstGeom prst="rect">
            <a:avLst/>
          </a:prstGeom>
          <a:solidFill>
            <a:srgbClr val="F8F8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253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8. Variance partition (Hoffman &amp; Bhatt 2021)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179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Quantifies simultaneous contribution of batch, diagnosis, platform, FF/FFPE to gene-level variance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653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More informative than single-covariate PCA R² — shows covariate 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9128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Status: planned for top-3 normalization methods comparison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comes next after the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Immediate — when all 1,000 jobs complete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63040"/>
          <a:ext cx="114300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1064240"/>
              </a:tblGrid>
              <a:tr h="31241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Load full metrics.csv → generate R² heatmaps (10 strats × 25 methods, per imputation × post_rm variant)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Identify top-10 combinations by R² batch across the full grid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Load top-10 matrices: PCA/UMAP visual QC + per-cohort distribution plots + compare against 10 representative bad-normalization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Run oposSOM on top-5 normalization outputs to assess SOM-space batch effect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24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Retry 31 failed jobs (--retry-failed)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Short term (2–4 weeks)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794760"/>
          <a:ext cx="114300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1064240"/>
              </a:tblGrid>
              <a:tr h="31241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Proceed with top-method downstream analysis in parallel with remaining benchmark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Implement kBET and LISI metrics in bench_shared.py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Run variancePartition on top-3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SOM projection of external FL cohorts onto reference (MDPI 2022 method)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24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Analyze metagene cluster enrichment for FL biological programs (Centroblast vs. Centrocyte axis)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760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</a:rPr>
              <a:t>Dissertation-level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807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1A"/>
                </a:solidFill>
              </a:rPr>
              <a:t>• Write technical article on harmonization and imputation comparison as a first deliverable</a:t>
            </a:r>
          </a:p>
          <a:p>
            <a:r>
              <a:rPr sz="1300">
                <a:solidFill>
                  <a:srgbClr val="1A1A1A"/>
                </a:solidFill>
              </a:rPr>
              <a:t>• Compare SOM signatures vs. PCA64 vs. internal B-cell typing vs. embeddings for OS/PFS prediction</a:t>
            </a:r>
          </a:p>
          <a:p>
            <a:r>
              <a:rPr sz="1300">
                <a:solidFill>
                  <a:srgbClr val="1A1A1A"/>
                </a:solidFill>
              </a:rPr>
              <a:t>• Validate FL biological subtypes against published literature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Computational infrastructure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50976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K8s pod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fl-batch-correction · ubuntu:24.04 · 16 vCPU / 240 GiB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3.11 · venv collagen_3_11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4.5.3 · Bioconductor 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Key R packages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limma, sva, batchelor, RUVSeq, qsmooth, FSQN, TDM, HarmonizR, missForest, softImpute, edgeR, DESeq2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Key Python pkgs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rpy2, boto3, pandas, numpy, scikit-learn, harmonypy, scanorama, combat, inmoose, psutil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AWS S3 — $FL_S3_BUCKET/FL_batch_correction/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Persistent vol.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100 GiB PVC fl-workspace for logs and 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Job dispatch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ThreadPoolExecutor · 4 workers per stage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Memory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Three-level: dispatcher → worker startup → worker post-load (exit code 2 on OOM)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Docker image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${AWS_ACCOUNT_ID}.dkr.ecr.${AWS_REGION}.amazonaws.com/fl-batch-correction:latest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Smoke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</a:rPr>
                        <a:t>test_mock.py — 25 methods × 4 imputation approaches on synthetic 80×200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852160"/>
            <a:ext cx="11612880" cy="548640"/>
          </a:xfrm>
          <a:prstGeom prst="rect">
            <a:avLst/>
          </a:prstGeom>
          <a:solidFill>
            <a:srgbClr val="F0F6FF"/>
          </a:solidFill>
          <a:ln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DA4"/>
                </a:solidFill>
              </a:rPr>
              <a:t>Total compute estimate: ~1,000 jobs × avg 10–30 min/job = ~200–500 CPU-hours for a complete benchmark run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Summary and questions for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46"/>
                </a:solidFill>
              </a:rPr>
              <a:t>Completed in the last 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✅  Two-stage K8s pipeline operational (preparation + normalization separated)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470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✅  25 normalization methods × 4 imputation strategies fully implemented and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3113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✅  558 out of 1,000 normalization jobs completed; 1,116 output matrices on 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151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✅  E3×softimpute×HarmonizR: R² batch = 0.099 — new best result (metrics.csv)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992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✅  Literature-backed decision for dropna vs fillna(median) for residual BEAM 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83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✅  Dockerfile + K8s pod with R 4.5 + Bioconductor 3.22 fully reproducible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233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Key results so far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34340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E6DA4"/>
                </a:solidFill>
              </a:rPr>
              <a:t>• FSQN R: best on A×strict (pre-benchmark exploration; formal metrics pending)</a:t>
            </a:r>
          </a:p>
          <a:p>
            <a:r>
              <a:rPr sz="1200">
                <a:solidFill>
                  <a:srgbClr val="1E7A46"/>
                </a:solidFill>
              </a:rPr>
              <a:t>• HarmonizR: R² = 0.099 with E3×softimpute (metrics.csv) — competitive</a:t>
            </a:r>
          </a:p>
          <a:p>
            <a:r>
              <a:rPr sz="1200">
                <a:solidFill>
                  <a:srgbClr val="C0392B"/>
                </a:solidFill>
              </a:rPr>
              <a:t>• Harmony: R² &gt; 0.95 — anti-optimal (worsens batch)</a:t>
            </a:r>
          </a:p>
          <a:p>
            <a:r>
              <a:rPr sz="1200">
                <a:solidFill>
                  <a:srgbClr val="D37C00"/>
                </a:solidFill>
              </a:rPr>
              <a:t>• SOM metagene space fails batch test even after FSQN — RNA-seq or microarray-only tracks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5852160" cy="5577840"/>
          </a:xfrm>
          <a:prstGeom prst="rect">
            <a:avLst/>
          </a:prstGeom>
          <a:solidFill>
            <a:srgbClr val="FFF8EC"/>
          </a:solidFill>
          <a:ln>
            <a:solidFill>
              <a:srgbClr val="D3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7C00"/>
                </a:solidFill>
              </a:rPr>
              <a:t>Open questions for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1. SOM analysis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RNA-seq only, or is a separate microarray-only SOM track also worth pursuing alongside the mixed-platform approach?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918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2. Imputation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118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Should imputation be performed after log-transformation by cohort?
Current order: impute → log-transform. Imputing on already log-transformed data is more honest: imputed values will be in log scale. Imputing on raw then log-transforming may artificially correct log offsets for imputed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834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3. Within-batch imputation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3035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Should imputation be limited to within-batch rather than across all samples?
Within-batch imputation would impute far fewer genes but produce less artificial noise — consistent with the dropna reasoning for BEAMs.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91440"/>
            <a:ext cx="640080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Appendix A1 — Literature anchors for method selection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7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498079"/>
              </a:tblGrid>
              <a:tr h="38535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Relevance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Loeffler-Wirth 2019 (Nat Commun)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oposSOM predicts OS in B-lymphomas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Loeffler-Wirth 2022 (Cells)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Continuous LZ↔DZ transitions between lymphoma subtypes via SOM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Franks et al. 2018 (Biostatistics)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FSQN algorithm — doi.org/10.1093/biostatistics/kxx028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Voss et al. 2022 (Nat Commun)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HarmonizR BEAM-aware harmonization — doi.org/10.1038/s41467-022-31214-6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Goh et al. 2023 / 2025 (Briefings in Bioinformatics)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BEAM missing data framework — doi.org/10.1093/bib/bbad055 / bbae583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Hui et al. 2023 (Sci Rep)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Batch-sensitized imputation: M1 vs M2 vs M3 — doi.org/10.1038/s41598-023-35823-7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Hie et al. 2019 (Nature Biotech)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Scanorama gene intersection philosophy — doi.org/10.1038/s41587-019-0113-3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Büttner et al. 2019 (Nature Methods)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kBET batch effect test — doi.org/10.1038/s41592-018-0254-1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Korsunsky et al. 2019 (Nature Methods)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Harmony + LISI metrics — doi.org/10.1038/s41592-019-0619-0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Troyanskaya et al. 2001 (Bioinformatics)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KNN imputation — doi.org/10.1093/bioinformatics/17.6.520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Stekhoven &amp; Bühlmann 2012 (Bioinformatics)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missForest imputation — doi.org/10.1093/bioinformatics/btr597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Hastie et al. 2015 (JMLR)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softImpute matrix completion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8535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Rubin 1976 (Biometrika)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MNAR missing data theory — doi.org/10.1093/biomet/63.3.581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